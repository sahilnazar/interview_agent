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918" r:id="rId2"/>
    <p:sldId id="922" r:id="rId3"/>
    <p:sldId id="923" r:id="rId4"/>
    <p:sldId id="924" r:id="rId5"/>
    <p:sldId id="925" r:id="rId6"/>
    <p:sldId id="926" r:id="rId7"/>
    <p:sldId id="927" r:id="rId8"/>
    <p:sldId id="930" r:id="rId9"/>
    <p:sldId id="928" r:id="rId10"/>
    <p:sldId id="929" r:id="rId11"/>
    <p:sldId id="81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30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51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25" tIns="96625" rIns="96625" bIns="9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9" name="Google Shape;102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Title Master - Main Title">
  <p:cSld name="New Title Master - Main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4"/>
          </a:solidFill>
          <a:ln>
            <a:noFill/>
          </a:ln>
        </p:spPr>
        <p:txBody>
          <a:bodyPr spcFirstLastPara="1" wrap="square" lIns="80669" tIns="40324" rIns="80669" bIns="40324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68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745427" y="959423"/>
            <a:ext cx="4906455" cy="4906455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" name="Google Shape;13;p68"/>
          <p:cNvSpPr txBox="1">
            <a:spLocks noGrp="1"/>
          </p:cNvSpPr>
          <p:nvPr>
            <p:ph type="ctrTitle"/>
          </p:nvPr>
        </p:nvSpPr>
        <p:spPr>
          <a:xfrm>
            <a:off x="6280043" y="2173288"/>
            <a:ext cx="5143500" cy="209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2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68"/>
          <p:cNvSpPr txBox="1">
            <a:spLocks noGrp="1"/>
          </p:cNvSpPr>
          <p:nvPr>
            <p:ph type="subTitle" idx="1"/>
          </p:nvPr>
        </p:nvSpPr>
        <p:spPr>
          <a:xfrm>
            <a:off x="6280043" y="4279974"/>
            <a:ext cx="5143500" cy="50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40"/>
              <a:buNone/>
              <a:defRPr sz="1800" b="0" i="1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3"/>
              <a:buNone/>
              <a:defRPr sz="159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3"/>
              <a:buNone/>
              <a:defRPr sz="159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3"/>
              <a:buFont typeface="Arial"/>
              <a:buNone/>
              <a:defRPr sz="159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3"/>
              <a:buFont typeface="Arial"/>
              <a:buNone/>
              <a:defRPr sz="159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3"/>
              <a:buFont typeface="Arial"/>
              <a:buNone/>
              <a:defRPr sz="159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3"/>
              <a:buFont typeface="Arial"/>
              <a:buNone/>
              <a:defRPr sz="1599"/>
            </a:lvl9pPr>
          </a:lstStyle>
          <a:p>
            <a:endParaRPr/>
          </a:p>
        </p:txBody>
      </p:sp>
      <p:sp>
        <p:nvSpPr>
          <p:cNvPr id="16" name="Google Shape;16;p68"/>
          <p:cNvSpPr/>
          <p:nvPr/>
        </p:nvSpPr>
        <p:spPr>
          <a:xfrm>
            <a:off x="616324" y="874058"/>
            <a:ext cx="5145883" cy="5145883"/>
          </a:xfrm>
          <a:prstGeom prst="ellipse">
            <a:avLst/>
          </a:prstGeom>
          <a:noFill/>
          <a:ln w="127000" cap="flat" cmpd="sng">
            <a:solidFill>
              <a:srgbClr val="0076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0669" tIns="40324" rIns="80669" bIns="4032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7"/>
              <a:buFont typeface="Arial"/>
              <a:buNone/>
            </a:pPr>
            <a:endParaRPr sz="2821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Picture 17" descr="Text  Description automatically generated with medium confidence">
            <a:extLst>
              <a:ext uri="{FF2B5EF4-FFF2-40B4-BE49-F238E27FC236}">
                <a16:creationId xmlns:a16="http://schemas.microsoft.com/office/drawing/2014/main" id="{FD9DDC40-7C0A-0A42-4A50-04EF204E68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4144" t="40741" r="24120" b="40632"/>
          <a:stretch/>
        </p:blipFill>
        <p:spPr>
          <a:xfrm>
            <a:off x="6330936" y="999088"/>
            <a:ext cx="2604645" cy="52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28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3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1 - Thank You">
  <p:cSld name="M1 - Thank Yo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6C4"/>
          </a:solidFill>
          <a:ln>
            <a:noFill/>
          </a:ln>
        </p:spPr>
        <p:txBody>
          <a:bodyPr spcFirstLastPara="1" wrap="square" lIns="80669" tIns="40324" rIns="80669" bIns="40324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70"/>
          <p:cNvCxnSpPr/>
          <p:nvPr/>
        </p:nvCxnSpPr>
        <p:spPr>
          <a:xfrm>
            <a:off x="6178117" y="4233583"/>
            <a:ext cx="292608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70" descr="Open envelop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92597" y="4347091"/>
            <a:ext cx="387795" cy="38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70" descr="Interne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2597" y="4824092"/>
            <a:ext cx="387795" cy="38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70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1158679" y="1237071"/>
            <a:ext cx="4389120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0"/>
          <p:cNvSpPr/>
          <p:nvPr/>
        </p:nvSpPr>
        <p:spPr>
          <a:xfrm>
            <a:off x="1174335" y="1252727"/>
            <a:ext cx="4352544" cy="4352544"/>
          </a:xfrm>
          <a:prstGeom prst="ellipse">
            <a:avLst/>
          </a:prstGeom>
          <a:noFill/>
          <a:ln w="76200" cap="flat" cmpd="sng">
            <a:solidFill>
              <a:srgbClr val="0076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0669" tIns="40324" rIns="80669" bIns="40324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7"/>
              <a:buFont typeface="Arial"/>
              <a:buNone/>
            </a:pPr>
            <a:endParaRPr sz="2821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0"/>
          <p:cNvSpPr txBox="1"/>
          <p:nvPr/>
        </p:nvSpPr>
        <p:spPr>
          <a:xfrm>
            <a:off x="6178119" y="3547706"/>
            <a:ext cx="420701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69" tIns="40324" rIns="80669" bIns="40324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27"/>
              <a:buFont typeface="Helvetica Neue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Thank You!</a:t>
            </a:r>
            <a:endParaRPr sz="1235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0"/>
          <p:cNvSpPr txBox="1"/>
          <p:nvPr/>
        </p:nvSpPr>
        <p:spPr>
          <a:xfrm>
            <a:off x="6680393" y="4386174"/>
            <a:ext cx="3704737" cy="344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69" tIns="40324" rIns="80669" bIns="40324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12"/>
              <a:buFont typeface="Arial"/>
              <a:buNone/>
            </a:pPr>
            <a:r>
              <a:rPr lang="en-US" sz="15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trenser@trenser.com</a:t>
            </a:r>
            <a:endParaRPr sz="1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0"/>
          <p:cNvSpPr txBox="1"/>
          <p:nvPr/>
        </p:nvSpPr>
        <p:spPr>
          <a:xfrm>
            <a:off x="6680393" y="4845634"/>
            <a:ext cx="3704737" cy="344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69" tIns="40324" rIns="80669" bIns="40324" anchor="ctr" anchorCtr="0">
            <a:normAutofit/>
          </a:bodyPr>
          <a:lstStyle/>
          <a:p>
            <a:pPr marL="228616" marR="0" lvl="0" indent="-22861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12"/>
              <a:buFont typeface="Arial"/>
              <a:buNone/>
            </a:pPr>
            <a:r>
              <a:rPr lang="en-US" sz="15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https://www.trenser.com</a:t>
            </a:r>
            <a:endParaRPr sz="1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Text&#10;&#10;Description automatically generated with medium confidence">
            <a:extLst>
              <a:ext uri="{FF2B5EF4-FFF2-40B4-BE49-F238E27FC236}">
                <a16:creationId xmlns:a16="http://schemas.microsoft.com/office/drawing/2014/main" id="{2D6574E8-DFDF-6668-128F-6291DA3F9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4144" t="40741" r="24120" b="40632"/>
          <a:stretch/>
        </p:blipFill>
        <p:spPr>
          <a:xfrm>
            <a:off x="6178119" y="1318304"/>
            <a:ext cx="2604645" cy="52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23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64">
          <p15:clr>
            <a:srgbClr val="FBAE40"/>
          </p15:clr>
        </p15:guide>
        <p15:guide id="2" pos="5803">
          <p15:clr>
            <a:srgbClr val="FBAE40"/>
          </p15:clr>
        </p15:guide>
        <p15:guide id="3" pos="11081">
          <p15:clr>
            <a:srgbClr val="FBAE40"/>
          </p15:clr>
        </p15:guide>
        <p15:guide id="4" pos="54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267070" y="2040647"/>
            <a:ext cx="5363572" cy="1292687"/>
          </a:xfrm>
        </p:spPr>
        <p:txBody>
          <a:bodyPr>
            <a:normAutofit/>
          </a:bodyPr>
          <a:lstStyle/>
          <a:p>
            <a:r>
              <a:rPr lang="en-US" sz="5333" dirty="0" err="1">
                <a:solidFill>
                  <a:srgbClr val="FFFFFF"/>
                </a:solidFill>
                <a:latin typeface="Arial" panose="020B0604020202020204" pitchFamily="34" charset="0"/>
              </a:rPr>
              <a:t>TrenzHire</a:t>
            </a:r>
            <a:endParaRPr lang="en-US" sz="5333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5719313" y="3400000"/>
            <a:ext cx="6344351" cy="2439326"/>
          </a:xfrm>
        </p:spPr>
        <p:txBody>
          <a:bodyPr>
            <a:normAutofit/>
          </a:bodyPr>
          <a:lstStyle/>
          <a:p>
            <a:pPr marL="0" indent="0"/>
            <a:r>
              <a:rPr lang="en-US" sz="2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    Interview Assistant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US" dirty="0"/>
          </a:p>
          <a:p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LangGraph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| 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PostgreSQL+pgvector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| 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Groq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LLM  | 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 |  </a:t>
            </a:r>
          </a:p>
          <a:p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ESM  |  MCP Protocol</a:t>
            </a:r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endParaRPr lang="en-US" sz="16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3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1E82D9E-AF38-606B-9EAA-F1B34ADC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86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E0A2776-4B09-9D7F-2EAE-A626A9326941}"/>
              </a:ext>
            </a:extLst>
          </p:cNvPr>
          <p:cNvSpPr txBox="1">
            <a:spLocks/>
          </p:cNvSpPr>
          <p:nvPr/>
        </p:nvSpPr>
        <p:spPr>
          <a:xfrm>
            <a:off x="345057" y="207246"/>
            <a:ext cx="8998736" cy="48767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latin typeface="Arial" panose="020B0604020202020204" pitchFamily="34" charset="0"/>
              </a:rPr>
              <a:t>The Problem We Solve</a:t>
            </a:r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7993852A-5667-77EE-31BB-3174695425B2}"/>
              </a:ext>
            </a:extLst>
          </p:cNvPr>
          <p:cNvSpPr>
            <a:spLocks noGrp="1"/>
          </p:cNvSpPr>
          <p:nvPr/>
        </p:nvSpPr>
        <p:spPr>
          <a:xfrm>
            <a:off x="609600" y="1133333"/>
            <a:ext cx="10972800" cy="4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IN" sz="1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Next-Generation HR </a:t>
            </a:r>
            <a:r>
              <a:rPr lang="en-IN" sz="1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lang="en-US" sz="1700" b="1" dirty="0">
              <a:solidFill>
                <a:srgbClr val="1E73BE"/>
              </a:solidFill>
              <a:latin typeface="Arial" panose="020B0604020202020204" pitchFamily="34" charset="0"/>
            </a:endParaRPr>
          </a:p>
        </p:txBody>
      </p:sp>
      <p:sp>
        <p:nvSpPr>
          <p:cNvPr id="7" name="BeforeBox">
            <a:extLst>
              <a:ext uri="{FF2B5EF4-FFF2-40B4-BE49-F238E27FC236}">
                <a16:creationId xmlns:a16="http://schemas.microsoft.com/office/drawing/2014/main" id="{0DDC92E7-D2D8-A678-9FC5-AD4DF5D0746E}"/>
              </a:ext>
            </a:extLst>
          </p:cNvPr>
          <p:cNvSpPr>
            <a:spLocks noGrp="1"/>
          </p:cNvSpPr>
          <p:nvPr/>
        </p:nvSpPr>
        <p:spPr>
          <a:xfrm>
            <a:off x="609600" y="1701990"/>
            <a:ext cx="5158643" cy="4022678"/>
          </a:xfrm>
          <a:prstGeom prst="rect">
            <a:avLst/>
          </a:prstGeom>
          <a:solidFill>
            <a:srgbClr val="F8F8F8"/>
          </a:solidFill>
          <a:ln w="19050">
            <a:solidFill>
              <a:srgbClr val="CCDDEE"/>
            </a:solidFill>
          </a:ln>
        </p:spPr>
        <p:txBody>
          <a:bodyPr lIns="240000" tIns="266667" rIns="240000" anchor="t"/>
          <a:lstStyle/>
          <a:p>
            <a:pPr algn="ctr"/>
            <a:r>
              <a:rPr lang="en-US" sz="2000" b="1" dirty="0">
                <a:solidFill>
                  <a:srgbClr val="C0392B"/>
                </a:solidFill>
                <a:latin typeface="Arial" panose="020B0604020202020204" pitchFamily="34" charset="0"/>
              </a:rPr>
              <a:t>BEFORE — The Old Way</a:t>
            </a:r>
          </a:p>
          <a:p>
            <a:endParaRPr lang="en-US" sz="2000" b="1" dirty="0">
              <a:solidFill>
                <a:srgbClr val="C0392B"/>
              </a:solidFill>
              <a:latin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</a:endParaRPr>
          </a:p>
          <a:p>
            <a:endParaRPr lang="en-US" sz="1067" dirty="0">
              <a:latin typeface="Arial" panose="020B0604020202020204" pitchFamily="34" charset="0"/>
            </a:endParaRP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C7E4DB06-08FA-6962-E3AE-561A8AE57B8D}"/>
              </a:ext>
            </a:extLst>
          </p:cNvPr>
          <p:cNvSpPr>
            <a:spLocks noGrp="1"/>
          </p:cNvSpPr>
          <p:nvPr/>
        </p:nvSpPr>
        <p:spPr>
          <a:xfrm>
            <a:off x="5893333" y="3626667"/>
            <a:ext cx="480000" cy="480000"/>
          </a:xfrm>
          <a:prstGeom prst="rightArrow">
            <a:avLst/>
          </a:prstGeom>
          <a:solidFill>
            <a:srgbClr val="1E73BE"/>
          </a:solidFill>
        </p:spPr>
        <p:txBody>
          <a:bodyPr/>
          <a:lstStyle/>
          <a:p>
            <a:endParaRPr lang="en-US" sz="2400" dirty="0"/>
          </a:p>
        </p:txBody>
      </p:sp>
      <p:sp>
        <p:nvSpPr>
          <p:cNvPr id="10" name="AfterBox">
            <a:extLst>
              <a:ext uri="{FF2B5EF4-FFF2-40B4-BE49-F238E27FC236}">
                <a16:creationId xmlns:a16="http://schemas.microsoft.com/office/drawing/2014/main" id="{D3169BD5-D03C-1A63-0F9B-D9210FB0C6BE}"/>
              </a:ext>
            </a:extLst>
          </p:cNvPr>
          <p:cNvSpPr>
            <a:spLocks noGrp="1"/>
          </p:cNvSpPr>
          <p:nvPr/>
        </p:nvSpPr>
        <p:spPr>
          <a:xfrm>
            <a:off x="6476800" y="1693334"/>
            <a:ext cx="5200000" cy="4049192"/>
          </a:xfrm>
          <a:prstGeom prst="rect">
            <a:avLst/>
          </a:prstGeom>
          <a:solidFill>
            <a:srgbClr val="EAF4FF"/>
          </a:solidFill>
          <a:ln w="19050">
            <a:solidFill>
              <a:srgbClr val="1E73BE"/>
            </a:solidFill>
          </a:ln>
        </p:spPr>
        <p:txBody>
          <a:bodyPr lIns="240000" tIns="266667" rIns="240000" anchor="t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</a:rPr>
              <a:t>AFTER — With Interview Assist</a:t>
            </a:r>
          </a:p>
          <a:p>
            <a:endParaRPr lang="en-US" sz="1200" dirty="0">
              <a:latin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C83BF91-30A0-D0EA-666A-0B4441AA91B6}"/>
              </a:ext>
            </a:extLst>
          </p:cNvPr>
          <p:cNvSpPr/>
          <p:nvPr/>
        </p:nvSpPr>
        <p:spPr>
          <a:xfrm>
            <a:off x="733244" y="2320507"/>
            <a:ext cx="5034999" cy="308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✗  Hundreds of resumes screened manually</a:t>
            </a:r>
            <a:endParaRPr lang="en-IN" sz="1600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✗  Interviewer-candidate skill mismatch undetected</a:t>
            </a:r>
            <a:endParaRPr lang="en-IN" sz="1600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✗  Unstructured video interviews — no scoring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✗  Scheduling chaos: endless email back-and-forth</a:t>
            </a:r>
            <a:endParaRPr lang="en-IN" sz="1600" dirty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✗  No audit trail or data-driven decisions</a:t>
            </a:r>
            <a:endParaRPr lang="en-IN" sz="1600" dirty="0">
              <a:solidFill>
                <a:srgbClr val="FF0000"/>
              </a:solidFill>
            </a:endParaRPr>
          </a:p>
          <a:p>
            <a:endParaRPr lang="en-US" sz="1533" b="1" dirty="0">
              <a:solidFill>
                <a:srgbClr val="FF0000"/>
              </a:solidFill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A91659CC-1CD5-5D3E-540D-8AEAA3C8BB3E}"/>
              </a:ext>
            </a:extLst>
          </p:cNvPr>
          <p:cNvSpPr/>
          <p:nvPr/>
        </p:nvSpPr>
        <p:spPr>
          <a:xfrm>
            <a:off x="6587705" y="2598343"/>
            <a:ext cx="5086169" cy="2941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B050"/>
                </a:solidFill>
              </a:rPr>
              <a:t>✓  AI pipeline screens &amp; scores resumes instantly</a:t>
            </a:r>
          </a:p>
          <a:p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b="1" dirty="0">
                <a:solidFill>
                  <a:srgbClr val="00B050"/>
                </a:solidFill>
              </a:rPr>
              <a:t>✓  Gemini Vision scores fluency, skills &amp; confidence</a:t>
            </a:r>
          </a:p>
          <a:p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b="1" dirty="0">
                <a:solidFill>
                  <a:srgbClr val="00B050"/>
                </a:solidFill>
              </a:rPr>
              <a:t>✓  Skill-aware matching with HR approval workflow</a:t>
            </a:r>
          </a:p>
          <a:p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b="1" dirty="0">
                <a:solidFill>
                  <a:srgbClr val="00B050"/>
                </a:solidFill>
              </a:rPr>
              <a:t>✓  Automated slot booking, tokens &amp; confirmation emails</a:t>
            </a:r>
            <a:endParaRPr lang="en-IN" sz="1600" dirty="0">
              <a:solidFill>
                <a:srgbClr val="00B050"/>
              </a:solidFill>
            </a:endParaRPr>
          </a:p>
          <a:p>
            <a:endParaRPr lang="en-IN" sz="1600" dirty="0">
              <a:solidFill>
                <a:srgbClr val="00B050"/>
              </a:solidFill>
            </a:endParaRPr>
          </a:p>
          <a:p>
            <a:r>
              <a:rPr lang="en-US" sz="1600" b="1" dirty="0">
                <a:solidFill>
                  <a:srgbClr val="00B050"/>
                </a:solidFill>
              </a:rPr>
              <a:t>✓  Full candidate lifecycle tracked in one dashboard</a:t>
            </a:r>
            <a:endParaRPr lang="en-IN" sz="1600" dirty="0">
              <a:solidFill>
                <a:srgbClr val="00B050"/>
              </a:solidFill>
            </a:endParaRPr>
          </a:p>
          <a:p>
            <a:endParaRPr lang="en-IN" sz="1600" dirty="0"/>
          </a:p>
          <a:p>
            <a:endParaRPr lang="en-US" sz="1533" b="1" dirty="0">
              <a:solidFill>
                <a:srgbClr val="00B05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16D14-5F02-5633-C2A4-DD4DB7746243}"/>
              </a:ext>
            </a:extLst>
          </p:cNvPr>
          <p:cNvSpPr/>
          <p:nvPr/>
        </p:nvSpPr>
        <p:spPr>
          <a:xfrm>
            <a:off x="733244" y="2410128"/>
            <a:ext cx="4779035" cy="5702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A2454-6284-88D3-C850-4BFBDBAF28E3}"/>
              </a:ext>
            </a:extLst>
          </p:cNvPr>
          <p:cNvSpPr/>
          <p:nvPr/>
        </p:nvSpPr>
        <p:spPr>
          <a:xfrm>
            <a:off x="6587705" y="2390498"/>
            <a:ext cx="4779035" cy="5702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8496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5">
            <a:extLst>
              <a:ext uri="{FF2B5EF4-FFF2-40B4-BE49-F238E27FC236}">
                <a16:creationId xmlns:a16="http://schemas.microsoft.com/office/drawing/2014/main" id="{84F4A0AB-2C00-2828-E81C-CD4F525A9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5"/>
            <a:ext cx="12188952" cy="68562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7B12450-4999-17D9-27A0-F4EEBD1F8965}"/>
              </a:ext>
            </a:extLst>
          </p:cNvPr>
          <p:cNvSpPr/>
          <p:nvPr/>
        </p:nvSpPr>
        <p:spPr>
          <a:xfrm>
            <a:off x="1524" y="429769"/>
            <a:ext cx="4645954" cy="212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INPUTS → EXPRESS → LANGGRAPH → MCP MANAGER → MCP SERVERS → SERVICES</a:t>
            </a:r>
            <a:endParaRPr lang="en-US" sz="7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9B697F5-ECA7-FBA1-97A5-C087B11A104C}"/>
              </a:ext>
            </a:extLst>
          </p:cNvPr>
          <p:cNvSpPr/>
          <p:nvPr/>
        </p:nvSpPr>
        <p:spPr>
          <a:xfrm>
            <a:off x="137160" y="228600"/>
            <a:ext cx="1188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4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4DFB0579-0189-7D14-F820-2FB3056B7B37}"/>
              </a:ext>
            </a:extLst>
          </p:cNvPr>
          <p:cNvSpPr/>
          <p:nvPr/>
        </p:nvSpPr>
        <p:spPr>
          <a:xfrm>
            <a:off x="-212078" y="639041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65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4F964EC-2195-F9D2-57C3-78C79F42E0F6}"/>
              </a:ext>
            </a:extLst>
          </p:cNvPr>
          <p:cNvSpPr/>
          <p:nvPr/>
        </p:nvSpPr>
        <p:spPr>
          <a:xfrm>
            <a:off x="1100404" y="1146579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65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B09CBC5-DF3A-03BE-9921-AA2FF4F1B1F6}"/>
              </a:ext>
            </a:extLst>
          </p:cNvPr>
          <p:cNvSpPr/>
          <p:nvPr/>
        </p:nvSpPr>
        <p:spPr>
          <a:xfrm>
            <a:off x="5423176" y="1971133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6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91B9890-716B-0F86-3813-F12CAC7D24AB}"/>
              </a:ext>
            </a:extLst>
          </p:cNvPr>
          <p:cNvSpPr/>
          <p:nvPr/>
        </p:nvSpPr>
        <p:spPr>
          <a:xfrm>
            <a:off x="7456976" y="883141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SERVICES</a:t>
            </a:r>
            <a:endParaRPr lang="en-US" sz="65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56FF3C8F-117E-8E71-C29F-ABAFAD0D4909}"/>
              </a:ext>
            </a:extLst>
          </p:cNvPr>
          <p:cNvSpPr/>
          <p:nvPr/>
        </p:nvSpPr>
        <p:spPr>
          <a:xfrm>
            <a:off x="2956798" y="1973419"/>
            <a:ext cx="2139696" cy="4777740"/>
          </a:xfrm>
          <a:prstGeom prst="roundRect">
            <a:avLst>
              <a:gd name="adj" fmla="val 4274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A791195-484E-48CE-399A-26D30FCBAF4A}"/>
              </a:ext>
            </a:extLst>
          </p:cNvPr>
          <p:cNvSpPr/>
          <p:nvPr/>
        </p:nvSpPr>
        <p:spPr>
          <a:xfrm>
            <a:off x="2956798" y="1973419"/>
            <a:ext cx="2139696" cy="402336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DC3F756C-ED09-D8FF-37ED-049DDD39B57C}"/>
              </a:ext>
            </a:extLst>
          </p:cNvPr>
          <p:cNvSpPr/>
          <p:nvPr/>
        </p:nvSpPr>
        <p:spPr>
          <a:xfrm>
            <a:off x="2924794" y="1690449"/>
            <a:ext cx="2048256" cy="157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MANAGER</a:t>
            </a:r>
            <a:endParaRPr lang="en-US" sz="1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5329FC22-D345-2CBB-A0D5-A0DF15972348}"/>
              </a:ext>
            </a:extLst>
          </p:cNvPr>
          <p:cNvSpPr/>
          <p:nvPr/>
        </p:nvSpPr>
        <p:spPr>
          <a:xfrm>
            <a:off x="3007090" y="2736425"/>
            <a:ext cx="20482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EF3C7"/>
                </a:solidFill>
                <a:highlight>
                  <a:srgbClr val="00008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mcp-client-manager.js</a:t>
            </a:r>
            <a:endParaRPr lang="en-US" sz="700" dirty="0">
              <a:highlight>
                <a:srgbClr val="000080"/>
              </a:highlight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920890A7-55A4-3F0D-6208-27100EFCFE53}"/>
              </a:ext>
            </a:extLst>
          </p:cNvPr>
          <p:cNvSpPr/>
          <p:nvPr/>
        </p:nvSpPr>
        <p:spPr>
          <a:xfrm>
            <a:off x="3052810" y="1919676"/>
            <a:ext cx="1993392" cy="173736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EEBC4014-8E03-F93F-A238-DA7B8BD85F72}"/>
              </a:ext>
            </a:extLst>
          </p:cNvPr>
          <p:cNvSpPr/>
          <p:nvPr/>
        </p:nvSpPr>
        <p:spPr>
          <a:xfrm>
            <a:off x="3052810" y="1919676"/>
            <a:ext cx="199339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TOOL_REGISTRY — routes by tool name</a:t>
            </a:r>
            <a:endParaRPr lang="en-US" sz="75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D8D11482-867B-8CE3-05BE-64C0BC4958EA}"/>
              </a:ext>
            </a:extLst>
          </p:cNvPr>
          <p:cNvSpPr/>
          <p:nvPr/>
        </p:nvSpPr>
        <p:spPr>
          <a:xfrm>
            <a:off x="3029950" y="2071717"/>
            <a:ext cx="1993392" cy="608076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AE590742-E01D-F749-DF46-5F351474721D}"/>
              </a:ext>
            </a:extLst>
          </p:cNvPr>
          <p:cNvSpPr/>
          <p:nvPr/>
        </p:nvSpPr>
        <p:spPr>
          <a:xfrm>
            <a:off x="3066526" y="2117437"/>
            <a:ext cx="192024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analyze_resume
analyze_resume_only
send_invite
</a:t>
            </a:r>
            <a:r>
              <a:rPr lang="en-US" sz="750" b="1" dirty="0">
                <a:solidFill>
                  <a:srgbClr val="3B82F6"/>
                </a:solidFill>
              </a:rPr>
              <a:t>→ resume server</a:t>
            </a:r>
            <a:endParaRPr lang="en-US" sz="650" dirty="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AE0AFB2F-9EEE-6B19-5222-604FF6E2383E}"/>
              </a:ext>
            </a:extLst>
          </p:cNvPr>
          <p:cNvSpPr/>
          <p:nvPr/>
        </p:nvSpPr>
        <p:spPr>
          <a:xfrm>
            <a:off x="3029950" y="3011263"/>
            <a:ext cx="1993392" cy="466344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A6B10302-C6A3-0CAE-C5C7-972535093890}"/>
              </a:ext>
            </a:extLst>
          </p:cNvPr>
          <p:cNvSpPr/>
          <p:nvPr/>
        </p:nvSpPr>
        <p:spPr>
          <a:xfrm>
            <a:off x="3066526" y="3056983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candidate_lookup
candidate_benchmarks
</a:t>
            </a:r>
            <a:r>
              <a:rPr lang="en-US" sz="750" b="1" dirty="0">
                <a:solidFill>
                  <a:srgbClr val="10B981"/>
                </a:solidFill>
              </a:rPr>
              <a:t>→ candidate server</a:t>
            </a:r>
            <a:endParaRPr lang="en-US" sz="65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68D81E0A-BD29-B392-4A80-73B524DE5683}"/>
              </a:ext>
            </a:extLst>
          </p:cNvPr>
          <p:cNvSpPr/>
          <p:nvPr/>
        </p:nvSpPr>
        <p:spPr>
          <a:xfrm>
            <a:off x="3029950" y="3879943"/>
            <a:ext cx="1993392" cy="466344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61D2DD9A-3ABB-9F25-C672-AA01A7F5E74D}"/>
              </a:ext>
            </a:extLst>
          </p:cNvPr>
          <p:cNvSpPr/>
          <p:nvPr/>
        </p:nvSpPr>
        <p:spPr>
          <a:xfrm>
            <a:off x="3066526" y="3925663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schedule_candidate
auto_assign_and_confirm
</a:t>
            </a:r>
            <a:r>
              <a:rPr lang="en-US" sz="750" b="1" dirty="0">
                <a:solidFill>
                  <a:srgbClr val="8B5CF6"/>
                </a:solidFill>
              </a:rPr>
              <a:t>→ scheduling server</a:t>
            </a:r>
            <a:endParaRPr lang="en-US" sz="650" dirty="0"/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C1D971EC-79B0-DDDD-004B-6EAD6B344CB7}"/>
              </a:ext>
            </a:extLst>
          </p:cNvPr>
          <p:cNvSpPr/>
          <p:nvPr/>
        </p:nvSpPr>
        <p:spPr>
          <a:xfrm>
            <a:off x="3029950" y="4677757"/>
            <a:ext cx="1993392" cy="608076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4B08954B-F4B4-6006-BBC4-4E461D1C5F68}"/>
              </a:ext>
            </a:extLst>
          </p:cNvPr>
          <p:cNvSpPr/>
          <p:nvPr/>
        </p:nvSpPr>
        <p:spPr>
          <a:xfrm>
            <a:off x="3066526" y="4723477"/>
            <a:ext cx="1920240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list_hr_requests
approve_hr
reject_hr
</a:t>
            </a:r>
            <a:r>
              <a:rPr lang="en-US" sz="750" b="1" dirty="0">
                <a:solidFill>
                  <a:srgbClr val="EF4444"/>
                </a:solidFill>
              </a:rPr>
              <a:t>→ hr server</a:t>
            </a:r>
            <a:endParaRPr lang="en-US" sz="650" dirty="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A0672CAB-7409-5B3D-A1E8-E3DAEA15052B}"/>
              </a:ext>
            </a:extLst>
          </p:cNvPr>
          <p:cNvSpPr/>
          <p:nvPr/>
        </p:nvSpPr>
        <p:spPr>
          <a:xfrm>
            <a:off x="3029950" y="5596729"/>
            <a:ext cx="1993392" cy="324612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6CEA5FDA-8CCB-C71D-5969-7774E007785E}"/>
              </a:ext>
            </a:extLst>
          </p:cNvPr>
          <p:cNvSpPr/>
          <p:nvPr/>
        </p:nvSpPr>
        <p:spPr>
          <a:xfrm>
            <a:off x="3066526" y="5642449"/>
            <a:ext cx="19202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create_event
</a:t>
            </a:r>
            <a:r>
              <a:rPr lang="en-US" sz="750" b="1" dirty="0">
                <a:solidFill>
                  <a:srgbClr val="EC4899"/>
                </a:solidFill>
              </a:rPr>
              <a:t>→ calendar (ext)</a:t>
            </a:r>
            <a:endParaRPr lang="en-US" sz="650" dirty="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3CF50353-4A56-9023-DA60-0F4DD1B2D5DB}"/>
              </a:ext>
            </a:extLst>
          </p:cNvPr>
          <p:cNvSpPr/>
          <p:nvPr/>
        </p:nvSpPr>
        <p:spPr>
          <a:xfrm>
            <a:off x="3029950" y="6170515"/>
            <a:ext cx="1993392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4583E547-E394-A527-66CF-296D0F116F76}"/>
              </a:ext>
            </a:extLst>
          </p:cNvPr>
          <p:cNvSpPr/>
          <p:nvPr/>
        </p:nvSpPr>
        <p:spPr>
          <a:xfrm>
            <a:off x="3029950" y="6170515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Auto-respawn on close · Per-server stats · isMCPToolAvailable()</a:t>
            </a:r>
            <a:endParaRPr lang="en-US" sz="650"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83980EA4-12CA-32A3-2C87-03BC5759014A}"/>
              </a:ext>
            </a:extLst>
          </p:cNvPr>
          <p:cNvSpPr/>
          <p:nvPr/>
        </p:nvSpPr>
        <p:spPr>
          <a:xfrm>
            <a:off x="0" y="812778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5B966922-C66D-578F-1D89-65985B777D19}"/>
              </a:ext>
            </a:extLst>
          </p:cNvPr>
          <p:cNvSpPr/>
          <p:nvPr/>
        </p:nvSpPr>
        <p:spPr>
          <a:xfrm>
            <a:off x="0" y="81277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🌐 </a:t>
            </a:r>
            <a:r>
              <a:rPr lang="en-US" sz="800" b="1" dirty="0">
                <a:solidFill>
                  <a:srgbClr val="0F172A"/>
                </a:solidFill>
              </a:rPr>
              <a:t>Web Upload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POST /upload</a:t>
            </a:r>
            <a:endParaRPr lang="en-US" sz="13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FCBFFC97-2A8B-7B0A-A79F-1F7C84769FE2}"/>
              </a:ext>
            </a:extLst>
          </p:cNvPr>
          <p:cNvSpPr/>
          <p:nvPr/>
        </p:nvSpPr>
        <p:spPr>
          <a:xfrm>
            <a:off x="0" y="1681458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252A1F31-815E-AF83-5768-C88F49CB3A5F}"/>
              </a:ext>
            </a:extLst>
          </p:cNvPr>
          <p:cNvSpPr/>
          <p:nvPr/>
        </p:nvSpPr>
        <p:spPr>
          <a:xfrm>
            <a:off x="0" y="168145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📧 </a:t>
            </a:r>
            <a:r>
              <a:rPr lang="en-US" sz="800" b="1" dirty="0">
                <a:solidFill>
                  <a:srgbClr val="0F172A"/>
                </a:solidFill>
              </a:rPr>
              <a:t>Email IMAP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imapflow</a:t>
            </a:r>
            <a:endParaRPr lang="en-US" sz="1300" dirty="0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DF3402FA-738F-E5CF-69B6-D3EA6C2A7CAB}"/>
              </a:ext>
            </a:extLst>
          </p:cNvPr>
          <p:cNvSpPr/>
          <p:nvPr/>
        </p:nvSpPr>
        <p:spPr>
          <a:xfrm>
            <a:off x="0" y="2550138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60CFD0AB-C48D-7809-0F62-61C054377243}"/>
              </a:ext>
            </a:extLst>
          </p:cNvPr>
          <p:cNvSpPr/>
          <p:nvPr/>
        </p:nvSpPr>
        <p:spPr>
          <a:xfrm>
            <a:off x="0" y="255013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🕵️ </a:t>
            </a:r>
            <a:r>
              <a:rPr lang="en-US" sz="800" b="1" dirty="0">
                <a:solidFill>
                  <a:srgbClr val="0F172A"/>
                </a:solidFill>
              </a:rPr>
              <a:t>Folder Watch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chokidar</a:t>
            </a:r>
            <a:endParaRPr lang="en-US" sz="1300" dirty="0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518B0879-0B43-FF26-7299-09EE4BE20032}"/>
              </a:ext>
            </a:extLst>
          </p:cNvPr>
          <p:cNvSpPr/>
          <p:nvPr/>
        </p:nvSpPr>
        <p:spPr>
          <a:xfrm>
            <a:off x="10230612" y="3707501"/>
            <a:ext cx="1418844" cy="16459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DE8456CF-86FD-D14F-DFEF-9F7BE3F276F7}"/>
              </a:ext>
            </a:extLst>
          </p:cNvPr>
          <p:cNvSpPr/>
          <p:nvPr/>
        </p:nvSpPr>
        <p:spPr>
          <a:xfrm>
            <a:off x="1264899" y="1571730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87AEBD7F-2B9D-5DA7-DF27-BEC12C84227E}"/>
              </a:ext>
            </a:extLst>
          </p:cNvPr>
          <p:cNvSpPr/>
          <p:nvPr/>
        </p:nvSpPr>
        <p:spPr>
          <a:xfrm>
            <a:off x="1203666" y="1510655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⚡ </a:t>
            </a:r>
            <a:r>
              <a:rPr lang="en-US" sz="800" b="1" dirty="0">
                <a:solidFill>
                  <a:srgbClr val="0F172A"/>
                </a:solidFill>
              </a:rPr>
              <a:t>Express.js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API Router</a:t>
            </a:r>
            <a:endParaRPr lang="en-US" sz="1300" dirty="0"/>
          </a:p>
        </p:txBody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0EF22FB4-7F1A-8CEE-B404-79639E5CB671}"/>
              </a:ext>
            </a:extLst>
          </p:cNvPr>
          <p:cNvSpPr/>
          <p:nvPr/>
        </p:nvSpPr>
        <p:spPr>
          <a:xfrm>
            <a:off x="1256453" y="2582789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C0403FB3-3873-D304-0DF1-174B2484305E}"/>
              </a:ext>
            </a:extLst>
          </p:cNvPr>
          <p:cNvSpPr/>
          <p:nvPr/>
        </p:nvSpPr>
        <p:spPr>
          <a:xfrm>
            <a:off x="1256453" y="253353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🔄 </a:t>
            </a:r>
            <a:r>
              <a:rPr lang="en-US" sz="800" b="1" dirty="0">
                <a:solidFill>
                  <a:srgbClr val="0F172A"/>
                </a:solidFill>
              </a:rPr>
              <a:t>LangGraph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Workflow</a:t>
            </a:r>
            <a:endParaRPr lang="en-US" sz="1300" dirty="0"/>
          </a:p>
        </p:txBody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E35E24DB-2568-FF7D-4EE3-EED9D1778226}"/>
              </a:ext>
            </a:extLst>
          </p:cNvPr>
          <p:cNvSpPr/>
          <p:nvPr/>
        </p:nvSpPr>
        <p:spPr>
          <a:xfrm>
            <a:off x="5616581" y="2281037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241E97C6-B1DA-6B82-5877-BAC3147B298E}"/>
              </a:ext>
            </a:extLst>
          </p:cNvPr>
          <p:cNvSpPr/>
          <p:nvPr/>
        </p:nvSpPr>
        <p:spPr>
          <a:xfrm>
            <a:off x="5616581" y="228103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📄⚙️ </a:t>
            </a:r>
            <a:r>
              <a:rPr lang="en-US" sz="800" b="1" dirty="0">
                <a:solidFill>
                  <a:srgbClr val="0F172A"/>
                </a:solidFill>
              </a:rPr>
              <a:t>MCP Resume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mcp-resume-server</a:t>
            </a:r>
            <a:endParaRPr lang="en-US" sz="1300" dirty="0"/>
          </a:p>
        </p:txBody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76A1A6A5-D78C-3C45-7AEA-0710BC33C798}"/>
              </a:ext>
            </a:extLst>
          </p:cNvPr>
          <p:cNvSpPr/>
          <p:nvPr/>
        </p:nvSpPr>
        <p:spPr>
          <a:xfrm>
            <a:off x="5616581" y="3149717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B0BE1480-9748-55B6-12D4-E3CCAD8F5B5F}"/>
              </a:ext>
            </a:extLst>
          </p:cNvPr>
          <p:cNvSpPr/>
          <p:nvPr/>
        </p:nvSpPr>
        <p:spPr>
          <a:xfrm>
            <a:off x="5616581" y="314971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👤⚙️ </a:t>
            </a:r>
            <a:r>
              <a:rPr lang="en-US" sz="800" b="1" dirty="0">
                <a:solidFill>
                  <a:srgbClr val="0F172A"/>
                </a:solidFill>
              </a:rPr>
              <a:t>MCP Candidate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mcp-candidate-server</a:t>
            </a:r>
            <a:endParaRPr lang="en-US" sz="1300" dirty="0"/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0924F2A2-50A8-854F-6C93-6ED6ED62624F}"/>
              </a:ext>
            </a:extLst>
          </p:cNvPr>
          <p:cNvSpPr/>
          <p:nvPr/>
        </p:nvSpPr>
        <p:spPr>
          <a:xfrm>
            <a:off x="5616581" y="4018397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36C8CAB2-79E2-8883-3333-07B67F4D6363}"/>
              </a:ext>
            </a:extLst>
          </p:cNvPr>
          <p:cNvSpPr/>
          <p:nvPr/>
        </p:nvSpPr>
        <p:spPr>
          <a:xfrm>
            <a:off x="5616581" y="401839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📅⚙️ </a:t>
            </a:r>
            <a:r>
              <a:rPr lang="en-US" sz="800" b="1" dirty="0">
                <a:solidFill>
                  <a:srgbClr val="0F172A"/>
                </a:solidFill>
              </a:rPr>
              <a:t>MCP Scheduling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mcp-scheduling-server</a:t>
            </a:r>
            <a:endParaRPr lang="en-US" sz="1300" dirty="0"/>
          </a:p>
        </p:txBody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B96CE371-BF0D-C9E6-1398-1C22F80864E9}"/>
              </a:ext>
            </a:extLst>
          </p:cNvPr>
          <p:cNvSpPr/>
          <p:nvPr/>
        </p:nvSpPr>
        <p:spPr>
          <a:xfrm>
            <a:off x="5616581" y="4887077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Text 47">
            <a:extLst>
              <a:ext uri="{FF2B5EF4-FFF2-40B4-BE49-F238E27FC236}">
                <a16:creationId xmlns:a16="http://schemas.microsoft.com/office/drawing/2014/main" id="{6C411987-0796-4B64-8640-28AA3463AC2F}"/>
              </a:ext>
            </a:extLst>
          </p:cNvPr>
          <p:cNvSpPr/>
          <p:nvPr/>
        </p:nvSpPr>
        <p:spPr>
          <a:xfrm>
            <a:off x="5616581" y="488707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👥⚙️ </a:t>
            </a:r>
            <a:r>
              <a:rPr lang="en-US" sz="800" b="1" dirty="0">
                <a:solidFill>
                  <a:srgbClr val="0F172A"/>
                </a:solidFill>
              </a:rPr>
              <a:t>MCP HR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mcp-hr-server</a:t>
            </a:r>
            <a:endParaRPr lang="en-US" sz="1300" dirty="0"/>
          </a:p>
        </p:txBody>
      </p:sp>
      <p:sp>
        <p:nvSpPr>
          <p:cNvPr id="55" name="Shape 48">
            <a:extLst>
              <a:ext uri="{FF2B5EF4-FFF2-40B4-BE49-F238E27FC236}">
                <a16:creationId xmlns:a16="http://schemas.microsoft.com/office/drawing/2014/main" id="{86092354-A922-C993-D1B7-2CB51212C5F5}"/>
              </a:ext>
            </a:extLst>
          </p:cNvPr>
          <p:cNvSpPr/>
          <p:nvPr/>
        </p:nvSpPr>
        <p:spPr>
          <a:xfrm>
            <a:off x="5616581" y="5664317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49">
            <a:extLst>
              <a:ext uri="{FF2B5EF4-FFF2-40B4-BE49-F238E27FC236}">
                <a16:creationId xmlns:a16="http://schemas.microsoft.com/office/drawing/2014/main" id="{9FDDB021-9287-769C-21CC-B4DD05058E51}"/>
              </a:ext>
            </a:extLst>
          </p:cNvPr>
          <p:cNvSpPr/>
          <p:nvPr/>
        </p:nvSpPr>
        <p:spPr>
          <a:xfrm>
            <a:off x="5616581" y="566431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🌐⚙️ </a:t>
            </a:r>
            <a:r>
              <a:rPr lang="en-US" sz="800" b="1" dirty="0">
                <a:solidFill>
                  <a:srgbClr val="0F172A"/>
                </a:solidFill>
              </a:rPr>
              <a:t>Calendar MCP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StreamableHTTP (ext)</a:t>
            </a:r>
            <a:endParaRPr lang="en-US" sz="1300" dirty="0"/>
          </a:p>
        </p:txBody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EF8AB365-5EAB-A396-03AE-05A5302BFDB0}"/>
              </a:ext>
            </a:extLst>
          </p:cNvPr>
          <p:cNvSpPr/>
          <p:nvPr/>
        </p:nvSpPr>
        <p:spPr>
          <a:xfrm>
            <a:off x="7596285" y="1924421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2511F262-40F8-6BB1-A760-D2C6C0C1FCF6}"/>
              </a:ext>
            </a:extLst>
          </p:cNvPr>
          <p:cNvSpPr/>
          <p:nvPr/>
        </p:nvSpPr>
        <p:spPr>
          <a:xfrm>
            <a:off x="7571276" y="189957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🧠 </a:t>
            </a:r>
            <a:r>
              <a:rPr lang="en-US" sz="800" b="1" dirty="0">
                <a:solidFill>
                  <a:srgbClr val="0F172A"/>
                </a:solidFill>
              </a:rPr>
              <a:t>Ollama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nomic-embed</a:t>
            </a:r>
            <a:endParaRPr lang="en-US" sz="1300" dirty="0"/>
          </a:p>
        </p:txBody>
      </p:sp>
      <p:sp>
        <p:nvSpPr>
          <p:cNvPr id="59" name="Shape 52">
            <a:extLst>
              <a:ext uri="{FF2B5EF4-FFF2-40B4-BE49-F238E27FC236}">
                <a16:creationId xmlns:a16="http://schemas.microsoft.com/office/drawing/2014/main" id="{C2A37D68-E01C-EB35-BFCB-A9541E9DAE3D}"/>
              </a:ext>
            </a:extLst>
          </p:cNvPr>
          <p:cNvSpPr/>
          <p:nvPr/>
        </p:nvSpPr>
        <p:spPr>
          <a:xfrm>
            <a:off x="9146806" y="1933220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3">
            <a:extLst>
              <a:ext uri="{FF2B5EF4-FFF2-40B4-BE49-F238E27FC236}">
                <a16:creationId xmlns:a16="http://schemas.microsoft.com/office/drawing/2014/main" id="{83E3937B-C875-C4A9-5E55-9186A147C751}"/>
              </a:ext>
            </a:extLst>
          </p:cNvPr>
          <p:cNvSpPr/>
          <p:nvPr/>
        </p:nvSpPr>
        <p:spPr>
          <a:xfrm>
            <a:off x="9146806" y="1933220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⚡ </a:t>
            </a:r>
            <a:r>
              <a:rPr lang="en-US" sz="800" b="1" dirty="0">
                <a:solidFill>
                  <a:srgbClr val="0F172A"/>
                </a:solidFill>
              </a:rPr>
              <a:t>Groq LLM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scorer</a:t>
            </a:r>
            <a:endParaRPr lang="en-US" sz="1300" dirty="0"/>
          </a:p>
        </p:txBody>
      </p:sp>
      <p:sp>
        <p:nvSpPr>
          <p:cNvPr id="61" name="Shape 54">
            <a:extLst>
              <a:ext uri="{FF2B5EF4-FFF2-40B4-BE49-F238E27FC236}">
                <a16:creationId xmlns:a16="http://schemas.microsoft.com/office/drawing/2014/main" id="{1BEBEAF5-22B5-C0BF-A501-37E4234795AE}"/>
              </a:ext>
            </a:extLst>
          </p:cNvPr>
          <p:cNvSpPr/>
          <p:nvPr/>
        </p:nvSpPr>
        <p:spPr>
          <a:xfrm>
            <a:off x="7594617" y="2699698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Text 55">
            <a:extLst>
              <a:ext uri="{FF2B5EF4-FFF2-40B4-BE49-F238E27FC236}">
                <a16:creationId xmlns:a16="http://schemas.microsoft.com/office/drawing/2014/main" id="{B6144829-8D6B-F583-B2D8-5E1CBEC3845D}"/>
              </a:ext>
            </a:extLst>
          </p:cNvPr>
          <p:cNvSpPr/>
          <p:nvPr/>
        </p:nvSpPr>
        <p:spPr>
          <a:xfrm>
            <a:off x="7594617" y="269969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🗄️ </a:t>
            </a:r>
            <a:r>
              <a:rPr lang="en-US" sz="800" b="1" dirty="0">
                <a:solidFill>
                  <a:srgbClr val="0F172A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+pgvector</a:t>
            </a:r>
            <a:endParaRPr lang="en-US" sz="1300" dirty="0"/>
          </a:p>
        </p:txBody>
      </p:sp>
      <p:sp>
        <p:nvSpPr>
          <p:cNvPr id="63" name="Shape 56">
            <a:extLst>
              <a:ext uri="{FF2B5EF4-FFF2-40B4-BE49-F238E27FC236}">
                <a16:creationId xmlns:a16="http://schemas.microsoft.com/office/drawing/2014/main" id="{967A6D4C-38FA-F60E-026C-3931C982675B}"/>
              </a:ext>
            </a:extLst>
          </p:cNvPr>
          <p:cNvSpPr/>
          <p:nvPr/>
        </p:nvSpPr>
        <p:spPr>
          <a:xfrm>
            <a:off x="7605429" y="3440039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Text 57">
            <a:extLst>
              <a:ext uri="{FF2B5EF4-FFF2-40B4-BE49-F238E27FC236}">
                <a16:creationId xmlns:a16="http://schemas.microsoft.com/office/drawing/2014/main" id="{8412700B-FB8C-5B87-9C79-2D160062BE00}"/>
              </a:ext>
            </a:extLst>
          </p:cNvPr>
          <p:cNvSpPr/>
          <p:nvPr/>
        </p:nvSpPr>
        <p:spPr>
          <a:xfrm>
            <a:off x="7534182" y="342807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🗄️ </a:t>
            </a:r>
            <a:r>
              <a:rPr lang="en-US" sz="800" b="1" dirty="0">
                <a:solidFill>
                  <a:srgbClr val="0F172A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candidates</a:t>
            </a:r>
            <a:endParaRPr lang="en-US" sz="1300" dirty="0"/>
          </a:p>
        </p:txBody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8F462D51-6412-2F78-C67F-5E5E3696E609}"/>
              </a:ext>
            </a:extLst>
          </p:cNvPr>
          <p:cNvSpPr/>
          <p:nvPr/>
        </p:nvSpPr>
        <p:spPr>
          <a:xfrm>
            <a:off x="7611900" y="4267456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Text 59">
            <a:extLst>
              <a:ext uri="{FF2B5EF4-FFF2-40B4-BE49-F238E27FC236}">
                <a16:creationId xmlns:a16="http://schemas.microsoft.com/office/drawing/2014/main" id="{4B7F009D-AC58-8190-B296-98D97ABE5E5F}"/>
              </a:ext>
            </a:extLst>
          </p:cNvPr>
          <p:cNvSpPr/>
          <p:nvPr/>
        </p:nvSpPr>
        <p:spPr>
          <a:xfrm>
            <a:off x="7611900" y="4267456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🗄️ </a:t>
            </a:r>
            <a:r>
              <a:rPr lang="en-US" sz="800" b="1" dirty="0">
                <a:solidFill>
                  <a:srgbClr val="0F172A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slots</a:t>
            </a:r>
            <a:endParaRPr lang="en-US" sz="1300" dirty="0"/>
          </a:p>
        </p:txBody>
      </p:sp>
      <p:sp>
        <p:nvSpPr>
          <p:cNvPr id="67" name="Shape 62">
            <a:extLst>
              <a:ext uri="{FF2B5EF4-FFF2-40B4-BE49-F238E27FC236}">
                <a16:creationId xmlns:a16="http://schemas.microsoft.com/office/drawing/2014/main" id="{607F8895-BB72-4E10-8F22-CBE71C57164E}"/>
              </a:ext>
            </a:extLst>
          </p:cNvPr>
          <p:cNvSpPr/>
          <p:nvPr/>
        </p:nvSpPr>
        <p:spPr>
          <a:xfrm>
            <a:off x="7611900" y="5280916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Text 63">
            <a:extLst>
              <a:ext uri="{FF2B5EF4-FFF2-40B4-BE49-F238E27FC236}">
                <a16:creationId xmlns:a16="http://schemas.microsoft.com/office/drawing/2014/main" id="{5A2F40D3-EA7C-E249-4D04-2262000492AF}"/>
              </a:ext>
            </a:extLst>
          </p:cNvPr>
          <p:cNvSpPr/>
          <p:nvPr/>
        </p:nvSpPr>
        <p:spPr>
          <a:xfrm>
            <a:off x="7611900" y="5280916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🗄️ </a:t>
            </a:r>
            <a:r>
              <a:rPr lang="en-US" sz="800" b="1" dirty="0">
                <a:solidFill>
                  <a:srgbClr val="0F172A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requests</a:t>
            </a:r>
            <a:endParaRPr lang="en-US" sz="1300" dirty="0"/>
          </a:p>
        </p:txBody>
      </p:sp>
      <p:sp>
        <p:nvSpPr>
          <p:cNvPr id="69" name="Shape 66">
            <a:extLst>
              <a:ext uri="{FF2B5EF4-FFF2-40B4-BE49-F238E27FC236}">
                <a16:creationId xmlns:a16="http://schemas.microsoft.com/office/drawing/2014/main" id="{4ABEDA5A-949E-BE0D-6359-519C073DD9A2}"/>
              </a:ext>
            </a:extLst>
          </p:cNvPr>
          <p:cNvSpPr/>
          <p:nvPr/>
        </p:nvSpPr>
        <p:spPr>
          <a:xfrm>
            <a:off x="7609470" y="6170515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A97B94E8-40F1-D9CF-E3CE-FAEBBCC10349}"/>
              </a:ext>
            </a:extLst>
          </p:cNvPr>
          <p:cNvSpPr/>
          <p:nvPr/>
        </p:nvSpPr>
        <p:spPr>
          <a:xfrm>
            <a:off x="7639547" y="6182477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📅 </a:t>
            </a:r>
            <a:r>
              <a:rPr lang="en-US" sz="800" b="1" dirty="0">
                <a:solidFill>
                  <a:srgbClr val="0F172A"/>
                </a:solidFill>
              </a:rPr>
              <a:t>Google/Yahoo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Calendar</a:t>
            </a:r>
            <a:endParaRPr lang="en-US" sz="1300" dirty="0"/>
          </a:p>
        </p:txBody>
      </p:sp>
      <p:sp>
        <p:nvSpPr>
          <p:cNvPr id="71" name="Shape 68">
            <a:extLst>
              <a:ext uri="{FF2B5EF4-FFF2-40B4-BE49-F238E27FC236}">
                <a16:creationId xmlns:a16="http://schemas.microsoft.com/office/drawing/2014/main" id="{710C56EB-BB9D-5F43-B0A4-5C68E55B069A}"/>
              </a:ext>
            </a:extLst>
          </p:cNvPr>
          <p:cNvSpPr/>
          <p:nvPr/>
        </p:nvSpPr>
        <p:spPr>
          <a:xfrm>
            <a:off x="1100404" y="1105386"/>
            <a:ext cx="7378" cy="1766431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4AD92564-2AD4-8569-BEE5-3A83EDF8A28C}"/>
              </a:ext>
            </a:extLst>
          </p:cNvPr>
          <p:cNvSpPr/>
          <p:nvPr/>
        </p:nvSpPr>
        <p:spPr>
          <a:xfrm>
            <a:off x="950976" y="1105386"/>
            <a:ext cx="914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46781FB6-E44E-89E9-3AF8-26CB645F0516}"/>
              </a:ext>
            </a:extLst>
          </p:cNvPr>
          <p:cNvSpPr/>
          <p:nvPr/>
        </p:nvSpPr>
        <p:spPr>
          <a:xfrm>
            <a:off x="950976" y="1974066"/>
            <a:ext cx="914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1">
            <a:extLst>
              <a:ext uri="{FF2B5EF4-FFF2-40B4-BE49-F238E27FC236}">
                <a16:creationId xmlns:a16="http://schemas.microsoft.com/office/drawing/2014/main" id="{9AEE8C32-9A5E-5661-C4CF-89982A92D77D}"/>
              </a:ext>
            </a:extLst>
          </p:cNvPr>
          <p:cNvSpPr/>
          <p:nvPr/>
        </p:nvSpPr>
        <p:spPr>
          <a:xfrm>
            <a:off x="950976" y="2842746"/>
            <a:ext cx="914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2">
            <a:extLst>
              <a:ext uri="{FF2B5EF4-FFF2-40B4-BE49-F238E27FC236}">
                <a16:creationId xmlns:a16="http://schemas.microsoft.com/office/drawing/2014/main" id="{262FA0C0-33DE-0847-08A1-2E17F44B72FF}"/>
              </a:ext>
            </a:extLst>
          </p:cNvPr>
          <p:cNvSpPr/>
          <p:nvPr/>
        </p:nvSpPr>
        <p:spPr>
          <a:xfrm>
            <a:off x="950976" y="3711426"/>
            <a:ext cx="914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F01B830B-DF14-C186-E8BF-FABC4559A6FF}"/>
              </a:ext>
            </a:extLst>
          </p:cNvPr>
          <p:cNvSpPr/>
          <p:nvPr/>
        </p:nvSpPr>
        <p:spPr>
          <a:xfrm>
            <a:off x="950976" y="4488666"/>
            <a:ext cx="914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4">
            <a:extLst>
              <a:ext uri="{FF2B5EF4-FFF2-40B4-BE49-F238E27FC236}">
                <a16:creationId xmlns:a16="http://schemas.microsoft.com/office/drawing/2014/main" id="{8DEB7140-12EF-D734-C3B9-9C2A2E88F93B}"/>
              </a:ext>
            </a:extLst>
          </p:cNvPr>
          <p:cNvSpPr/>
          <p:nvPr/>
        </p:nvSpPr>
        <p:spPr>
          <a:xfrm flipV="1">
            <a:off x="969264" y="1971132"/>
            <a:ext cx="295635" cy="293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5">
            <a:extLst>
              <a:ext uri="{FF2B5EF4-FFF2-40B4-BE49-F238E27FC236}">
                <a16:creationId xmlns:a16="http://schemas.microsoft.com/office/drawing/2014/main" id="{169F3E52-F93C-1576-1AA1-4FD7D2B5607F}"/>
              </a:ext>
            </a:extLst>
          </p:cNvPr>
          <p:cNvSpPr/>
          <p:nvPr/>
        </p:nvSpPr>
        <p:spPr>
          <a:xfrm>
            <a:off x="898527" y="1644883"/>
            <a:ext cx="411480" cy="182880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BA27125E-A14F-2882-F17A-A76709398718}"/>
              </a:ext>
            </a:extLst>
          </p:cNvPr>
          <p:cNvSpPr/>
          <p:nvPr/>
        </p:nvSpPr>
        <p:spPr>
          <a:xfrm>
            <a:off x="907671" y="1635737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650" dirty="0"/>
          </a:p>
        </p:txBody>
      </p:sp>
      <p:sp>
        <p:nvSpPr>
          <p:cNvPr id="80" name="Shape 77">
            <a:extLst>
              <a:ext uri="{FF2B5EF4-FFF2-40B4-BE49-F238E27FC236}">
                <a16:creationId xmlns:a16="http://schemas.microsoft.com/office/drawing/2014/main" id="{53F577E9-1E11-BE37-04DC-D20D940FFF78}"/>
              </a:ext>
            </a:extLst>
          </p:cNvPr>
          <p:cNvSpPr/>
          <p:nvPr/>
        </p:nvSpPr>
        <p:spPr>
          <a:xfrm>
            <a:off x="1744959" y="2260463"/>
            <a:ext cx="0" cy="32232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8">
            <a:extLst>
              <a:ext uri="{FF2B5EF4-FFF2-40B4-BE49-F238E27FC236}">
                <a16:creationId xmlns:a16="http://schemas.microsoft.com/office/drawing/2014/main" id="{FBEF7B05-1151-71C9-C3A6-0B3C1912D1D6}"/>
              </a:ext>
            </a:extLst>
          </p:cNvPr>
          <p:cNvSpPr/>
          <p:nvPr/>
        </p:nvSpPr>
        <p:spPr>
          <a:xfrm>
            <a:off x="2239513" y="2979906"/>
            <a:ext cx="697363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79">
            <a:extLst>
              <a:ext uri="{FF2B5EF4-FFF2-40B4-BE49-F238E27FC236}">
                <a16:creationId xmlns:a16="http://schemas.microsoft.com/office/drawing/2014/main" id="{039066CC-C32E-FC6A-5A9D-2EC449427C8B}"/>
              </a:ext>
            </a:extLst>
          </p:cNvPr>
          <p:cNvSpPr/>
          <p:nvPr/>
        </p:nvSpPr>
        <p:spPr>
          <a:xfrm>
            <a:off x="2239513" y="2535343"/>
            <a:ext cx="612128" cy="202936"/>
          </a:xfrm>
          <a:prstGeom prst="roundRect">
            <a:avLst>
              <a:gd name="adj" fmla="val 40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E64C40BE-E864-D4B5-F604-887540157D19}"/>
              </a:ext>
            </a:extLst>
          </p:cNvPr>
          <p:cNvSpPr/>
          <p:nvPr/>
        </p:nvSpPr>
        <p:spPr>
          <a:xfrm>
            <a:off x="2094725" y="2545220"/>
            <a:ext cx="91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callMCPTool()</a:t>
            </a:r>
            <a:endParaRPr lang="en-US" sz="650" dirty="0"/>
          </a:p>
        </p:txBody>
      </p:sp>
      <p:sp>
        <p:nvSpPr>
          <p:cNvPr id="84" name="Shape 81">
            <a:extLst>
              <a:ext uri="{FF2B5EF4-FFF2-40B4-BE49-F238E27FC236}">
                <a16:creationId xmlns:a16="http://schemas.microsoft.com/office/drawing/2014/main" id="{F1A6446A-4A5F-C864-29D8-5840C2D96E9F}"/>
              </a:ext>
            </a:extLst>
          </p:cNvPr>
          <p:cNvSpPr/>
          <p:nvPr/>
        </p:nvSpPr>
        <p:spPr>
          <a:xfrm>
            <a:off x="5113661" y="2361047"/>
            <a:ext cx="50292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2">
            <a:extLst>
              <a:ext uri="{FF2B5EF4-FFF2-40B4-BE49-F238E27FC236}">
                <a16:creationId xmlns:a16="http://schemas.microsoft.com/office/drawing/2014/main" id="{1373FF34-97E7-F0ED-A190-CD1783AD8633}"/>
              </a:ext>
            </a:extLst>
          </p:cNvPr>
          <p:cNvSpPr/>
          <p:nvPr/>
        </p:nvSpPr>
        <p:spPr>
          <a:xfrm>
            <a:off x="5154809" y="2169023"/>
            <a:ext cx="420624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3">
            <a:extLst>
              <a:ext uri="{FF2B5EF4-FFF2-40B4-BE49-F238E27FC236}">
                <a16:creationId xmlns:a16="http://schemas.microsoft.com/office/drawing/2014/main" id="{36FF9EF0-D681-89A8-F8C5-E9635C931084}"/>
              </a:ext>
            </a:extLst>
          </p:cNvPr>
          <p:cNvSpPr/>
          <p:nvPr/>
        </p:nvSpPr>
        <p:spPr>
          <a:xfrm>
            <a:off x="5154809" y="2169023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650" dirty="0"/>
          </a:p>
        </p:txBody>
      </p:sp>
      <p:sp>
        <p:nvSpPr>
          <p:cNvPr id="87" name="Shape 84">
            <a:extLst>
              <a:ext uri="{FF2B5EF4-FFF2-40B4-BE49-F238E27FC236}">
                <a16:creationId xmlns:a16="http://schemas.microsoft.com/office/drawing/2014/main" id="{E7F09CE4-BC13-EE9A-559F-2B18BDFC2457}"/>
              </a:ext>
            </a:extLst>
          </p:cNvPr>
          <p:cNvSpPr/>
          <p:nvPr/>
        </p:nvSpPr>
        <p:spPr>
          <a:xfrm>
            <a:off x="5113661" y="3229727"/>
            <a:ext cx="5029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5">
            <a:extLst>
              <a:ext uri="{FF2B5EF4-FFF2-40B4-BE49-F238E27FC236}">
                <a16:creationId xmlns:a16="http://schemas.microsoft.com/office/drawing/2014/main" id="{5C2D7108-CB05-B1D2-E933-96645407A3ED}"/>
              </a:ext>
            </a:extLst>
          </p:cNvPr>
          <p:cNvSpPr/>
          <p:nvPr/>
        </p:nvSpPr>
        <p:spPr>
          <a:xfrm>
            <a:off x="5154809" y="3037703"/>
            <a:ext cx="420624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6">
            <a:extLst>
              <a:ext uri="{FF2B5EF4-FFF2-40B4-BE49-F238E27FC236}">
                <a16:creationId xmlns:a16="http://schemas.microsoft.com/office/drawing/2014/main" id="{52A56EB6-EC17-CFC5-1B1A-94868CF89318}"/>
              </a:ext>
            </a:extLst>
          </p:cNvPr>
          <p:cNvSpPr/>
          <p:nvPr/>
        </p:nvSpPr>
        <p:spPr>
          <a:xfrm>
            <a:off x="5154809" y="3037703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650" dirty="0"/>
          </a:p>
        </p:txBody>
      </p:sp>
      <p:sp>
        <p:nvSpPr>
          <p:cNvPr id="90" name="Shape 87">
            <a:extLst>
              <a:ext uri="{FF2B5EF4-FFF2-40B4-BE49-F238E27FC236}">
                <a16:creationId xmlns:a16="http://schemas.microsoft.com/office/drawing/2014/main" id="{45FFE36A-741A-890C-CE9E-26AFA5287281}"/>
              </a:ext>
            </a:extLst>
          </p:cNvPr>
          <p:cNvSpPr/>
          <p:nvPr/>
        </p:nvSpPr>
        <p:spPr>
          <a:xfrm>
            <a:off x="5113661" y="4098407"/>
            <a:ext cx="50292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8">
            <a:extLst>
              <a:ext uri="{FF2B5EF4-FFF2-40B4-BE49-F238E27FC236}">
                <a16:creationId xmlns:a16="http://schemas.microsoft.com/office/drawing/2014/main" id="{17A31E2B-0C0F-6CFE-8EC5-0E12B53DFB45}"/>
              </a:ext>
            </a:extLst>
          </p:cNvPr>
          <p:cNvSpPr/>
          <p:nvPr/>
        </p:nvSpPr>
        <p:spPr>
          <a:xfrm>
            <a:off x="5154809" y="3906383"/>
            <a:ext cx="420624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89">
            <a:extLst>
              <a:ext uri="{FF2B5EF4-FFF2-40B4-BE49-F238E27FC236}">
                <a16:creationId xmlns:a16="http://schemas.microsoft.com/office/drawing/2014/main" id="{FF6E6338-5BB0-857A-652E-6A1E01D251D8}"/>
              </a:ext>
            </a:extLst>
          </p:cNvPr>
          <p:cNvSpPr/>
          <p:nvPr/>
        </p:nvSpPr>
        <p:spPr>
          <a:xfrm>
            <a:off x="5154809" y="3906383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650" dirty="0"/>
          </a:p>
        </p:txBody>
      </p:sp>
      <p:sp>
        <p:nvSpPr>
          <p:cNvPr id="93" name="Shape 90">
            <a:extLst>
              <a:ext uri="{FF2B5EF4-FFF2-40B4-BE49-F238E27FC236}">
                <a16:creationId xmlns:a16="http://schemas.microsoft.com/office/drawing/2014/main" id="{49D5D5E8-247E-AE26-9CCB-AB2702FF287D}"/>
              </a:ext>
            </a:extLst>
          </p:cNvPr>
          <p:cNvSpPr/>
          <p:nvPr/>
        </p:nvSpPr>
        <p:spPr>
          <a:xfrm>
            <a:off x="5113661" y="4967087"/>
            <a:ext cx="5029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1">
            <a:extLst>
              <a:ext uri="{FF2B5EF4-FFF2-40B4-BE49-F238E27FC236}">
                <a16:creationId xmlns:a16="http://schemas.microsoft.com/office/drawing/2014/main" id="{AD8544AB-23E2-3157-B79E-A9E5126674DD}"/>
              </a:ext>
            </a:extLst>
          </p:cNvPr>
          <p:cNvSpPr/>
          <p:nvPr/>
        </p:nvSpPr>
        <p:spPr>
          <a:xfrm>
            <a:off x="5154809" y="4775063"/>
            <a:ext cx="420624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2">
            <a:extLst>
              <a:ext uri="{FF2B5EF4-FFF2-40B4-BE49-F238E27FC236}">
                <a16:creationId xmlns:a16="http://schemas.microsoft.com/office/drawing/2014/main" id="{CBFB503B-3A68-C5EC-04DD-D2C3712CDDC0}"/>
              </a:ext>
            </a:extLst>
          </p:cNvPr>
          <p:cNvSpPr/>
          <p:nvPr/>
        </p:nvSpPr>
        <p:spPr>
          <a:xfrm>
            <a:off x="5154809" y="4775063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650" dirty="0"/>
          </a:p>
        </p:txBody>
      </p:sp>
      <p:sp>
        <p:nvSpPr>
          <p:cNvPr id="96" name="Shape 93">
            <a:extLst>
              <a:ext uri="{FF2B5EF4-FFF2-40B4-BE49-F238E27FC236}">
                <a16:creationId xmlns:a16="http://schemas.microsoft.com/office/drawing/2014/main" id="{C8DF28DC-C129-BDF0-62FE-D45028AF7A08}"/>
              </a:ext>
            </a:extLst>
          </p:cNvPr>
          <p:cNvSpPr/>
          <p:nvPr/>
        </p:nvSpPr>
        <p:spPr>
          <a:xfrm>
            <a:off x="5113661" y="5744327"/>
            <a:ext cx="502920" cy="0"/>
          </a:xfrm>
          <a:prstGeom prst="line">
            <a:avLst/>
          </a:prstGeom>
          <a:noFill/>
          <a:ln w="12700">
            <a:solidFill>
              <a:srgbClr val="EC4899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>
            <a:extLst>
              <a:ext uri="{FF2B5EF4-FFF2-40B4-BE49-F238E27FC236}">
                <a16:creationId xmlns:a16="http://schemas.microsoft.com/office/drawing/2014/main" id="{7B3B2780-C069-7880-F5A6-D2913D62061F}"/>
              </a:ext>
            </a:extLst>
          </p:cNvPr>
          <p:cNvSpPr/>
          <p:nvPr/>
        </p:nvSpPr>
        <p:spPr>
          <a:xfrm>
            <a:off x="5154809" y="5552303"/>
            <a:ext cx="420624" cy="1828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5">
            <a:extLst>
              <a:ext uri="{FF2B5EF4-FFF2-40B4-BE49-F238E27FC236}">
                <a16:creationId xmlns:a16="http://schemas.microsoft.com/office/drawing/2014/main" id="{5A3492EF-F7B4-68DB-B2EF-624040A1DA6B}"/>
              </a:ext>
            </a:extLst>
          </p:cNvPr>
          <p:cNvSpPr/>
          <p:nvPr/>
        </p:nvSpPr>
        <p:spPr>
          <a:xfrm>
            <a:off x="5154809" y="5552303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650" dirty="0"/>
          </a:p>
        </p:txBody>
      </p:sp>
      <p:sp>
        <p:nvSpPr>
          <p:cNvPr id="99" name="Shape 96">
            <a:extLst>
              <a:ext uri="{FF2B5EF4-FFF2-40B4-BE49-F238E27FC236}">
                <a16:creationId xmlns:a16="http://schemas.microsoft.com/office/drawing/2014/main" id="{EF13A4E2-2EBA-8C19-49ED-0B0EB36BD484}"/>
              </a:ext>
            </a:extLst>
          </p:cNvPr>
          <p:cNvSpPr/>
          <p:nvPr/>
        </p:nvSpPr>
        <p:spPr>
          <a:xfrm flipV="1">
            <a:off x="6576701" y="2287895"/>
            <a:ext cx="1035199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 sz="800" dirty="0"/>
          </a:p>
        </p:txBody>
      </p:sp>
      <p:sp>
        <p:nvSpPr>
          <p:cNvPr id="100" name="Shape 97">
            <a:extLst>
              <a:ext uri="{FF2B5EF4-FFF2-40B4-BE49-F238E27FC236}">
                <a16:creationId xmlns:a16="http://schemas.microsoft.com/office/drawing/2014/main" id="{E55A3B4C-EC51-EED2-C35A-5D51E7CEEFCE}"/>
              </a:ext>
            </a:extLst>
          </p:cNvPr>
          <p:cNvSpPr/>
          <p:nvPr/>
        </p:nvSpPr>
        <p:spPr>
          <a:xfrm>
            <a:off x="8581414" y="2545220"/>
            <a:ext cx="565392" cy="4919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1" name="Shape 98">
            <a:extLst>
              <a:ext uri="{FF2B5EF4-FFF2-40B4-BE49-F238E27FC236}">
                <a16:creationId xmlns:a16="http://schemas.microsoft.com/office/drawing/2014/main" id="{E265F9D2-CCCA-DC55-5F57-1E07138C2606}"/>
              </a:ext>
            </a:extLst>
          </p:cNvPr>
          <p:cNvSpPr/>
          <p:nvPr/>
        </p:nvSpPr>
        <p:spPr>
          <a:xfrm flipV="1">
            <a:off x="6601710" y="2871817"/>
            <a:ext cx="992907" cy="1091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486EF9A8-157B-8040-34BB-6D23E50D3672}"/>
              </a:ext>
            </a:extLst>
          </p:cNvPr>
          <p:cNvSpPr/>
          <p:nvPr/>
        </p:nvSpPr>
        <p:spPr>
          <a:xfrm>
            <a:off x="6586562" y="3614154"/>
            <a:ext cx="1018867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58006FA3-F20A-1421-0036-9DC2A744D7F1}"/>
              </a:ext>
            </a:extLst>
          </p:cNvPr>
          <p:cNvSpPr/>
          <p:nvPr/>
        </p:nvSpPr>
        <p:spPr>
          <a:xfrm>
            <a:off x="8572021" y="4602756"/>
            <a:ext cx="1658591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5726936D-E40B-7444-6C39-7B9C449F2E33}"/>
              </a:ext>
            </a:extLst>
          </p:cNvPr>
          <p:cNvSpPr/>
          <p:nvPr/>
        </p:nvSpPr>
        <p:spPr>
          <a:xfrm flipV="1">
            <a:off x="6611895" y="5429979"/>
            <a:ext cx="941832" cy="2933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42088A31-2504-5276-5B95-BA993C23288B}"/>
              </a:ext>
            </a:extLst>
          </p:cNvPr>
          <p:cNvSpPr/>
          <p:nvPr/>
        </p:nvSpPr>
        <p:spPr>
          <a:xfrm flipV="1">
            <a:off x="6586562" y="5052660"/>
            <a:ext cx="364405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37DBEF9B-E624-187B-D02D-D135033B5B68}"/>
              </a:ext>
            </a:extLst>
          </p:cNvPr>
          <p:cNvSpPr/>
          <p:nvPr/>
        </p:nvSpPr>
        <p:spPr>
          <a:xfrm>
            <a:off x="6624009" y="6225437"/>
            <a:ext cx="985461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E2752DB5-028E-74F9-E767-853B1D15381B}"/>
              </a:ext>
            </a:extLst>
          </p:cNvPr>
          <p:cNvSpPr/>
          <p:nvPr/>
        </p:nvSpPr>
        <p:spPr>
          <a:xfrm>
            <a:off x="0" y="6859248"/>
            <a:ext cx="12188952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F79F1F74-0A85-14AD-6BCF-521AD372E9B2}"/>
              </a:ext>
            </a:extLst>
          </p:cNvPr>
          <p:cNvSpPr/>
          <p:nvPr/>
        </p:nvSpPr>
        <p:spPr>
          <a:xfrm>
            <a:off x="164592" y="696897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84763D10-CB1B-8A47-B7C7-C80073CB4D60}"/>
              </a:ext>
            </a:extLst>
          </p:cNvPr>
          <p:cNvSpPr/>
          <p:nvPr/>
        </p:nvSpPr>
        <p:spPr>
          <a:xfrm>
            <a:off x="310896" y="69506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HTTP/POST</a:t>
            </a:r>
            <a:endParaRPr lang="en-US" sz="700" dirty="0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B73B432E-9720-541A-F4D3-E8C558B89135}"/>
              </a:ext>
            </a:extLst>
          </p:cNvPr>
          <p:cNvSpPr/>
          <p:nvPr/>
        </p:nvSpPr>
        <p:spPr>
          <a:xfrm>
            <a:off x="2084832" y="69689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E3989321-ECDA-8579-CC0D-4F429AAC2DAD}"/>
              </a:ext>
            </a:extLst>
          </p:cNvPr>
          <p:cNvSpPr/>
          <p:nvPr/>
        </p:nvSpPr>
        <p:spPr>
          <a:xfrm>
            <a:off x="2231136" y="69506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stdio</a:t>
            </a:r>
            <a:endParaRPr lang="en-US" sz="700" dirty="0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EE79E22D-7301-4A2D-5C0E-F2F46AD64ACD}"/>
              </a:ext>
            </a:extLst>
          </p:cNvPr>
          <p:cNvSpPr/>
          <p:nvPr/>
        </p:nvSpPr>
        <p:spPr>
          <a:xfrm>
            <a:off x="4005072" y="696897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AD807F7E-47C0-DA9B-6FEE-AB1E574CA7B6}"/>
              </a:ext>
            </a:extLst>
          </p:cNvPr>
          <p:cNvSpPr/>
          <p:nvPr/>
        </p:nvSpPr>
        <p:spPr>
          <a:xfrm>
            <a:off x="4151376" y="69506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SQL/pgvector</a:t>
            </a:r>
            <a:endParaRPr lang="en-US" sz="700" dirty="0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0A62567B-9EDE-866A-CFF3-C697F536EB39}"/>
              </a:ext>
            </a:extLst>
          </p:cNvPr>
          <p:cNvSpPr/>
          <p:nvPr/>
        </p:nvSpPr>
        <p:spPr>
          <a:xfrm>
            <a:off x="5925312" y="696897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0CDC2A23-C711-CD21-7CAD-B4515FE0CC06}"/>
              </a:ext>
            </a:extLst>
          </p:cNvPr>
          <p:cNvSpPr/>
          <p:nvPr/>
        </p:nvSpPr>
        <p:spPr>
          <a:xfrm>
            <a:off x="6071616" y="69506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StreamableHTTP</a:t>
            </a:r>
            <a:endParaRPr lang="en-US" sz="700" dirty="0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323AF9F1-AFF7-B790-AF8B-E587725159BF}"/>
              </a:ext>
            </a:extLst>
          </p:cNvPr>
          <p:cNvSpPr/>
          <p:nvPr/>
        </p:nvSpPr>
        <p:spPr>
          <a:xfrm>
            <a:off x="7845552" y="696897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>
            <a:extLst>
              <a:ext uri="{FF2B5EF4-FFF2-40B4-BE49-F238E27FC236}">
                <a16:creationId xmlns:a16="http://schemas.microsoft.com/office/drawing/2014/main" id="{2544D1AE-E569-208D-3120-1CA3DC735968}"/>
              </a:ext>
            </a:extLst>
          </p:cNvPr>
          <p:cNvSpPr/>
          <p:nvPr/>
        </p:nvSpPr>
        <p:spPr>
          <a:xfrm>
            <a:off x="7991856" y="69506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700" dirty="0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ADE233BA-66ED-855C-CF63-07A913E91FBD}"/>
              </a:ext>
            </a:extLst>
          </p:cNvPr>
          <p:cNvSpPr/>
          <p:nvPr/>
        </p:nvSpPr>
        <p:spPr>
          <a:xfrm>
            <a:off x="9765792" y="6968976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>
            <a:extLst>
              <a:ext uri="{FF2B5EF4-FFF2-40B4-BE49-F238E27FC236}">
                <a16:creationId xmlns:a16="http://schemas.microsoft.com/office/drawing/2014/main" id="{26C6AC5A-F92B-FB4B-A917-5D17FF825777}"/>
              </a:ext>
            </a:extLst>
          </p:cNvPr>
          <p:cNvSpPr/>
          <p:nvPr/>
        </p:nvSpPr>
        <p:spPr>
          <a:xfrm>
            <a:off x="9912096" y="69506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JSON</a:t>
            </a:r>
            <a:endParaRPr lang="en-US" sz="700" dirty="0"/>
          </a:p>
        </p:txBody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2FC3E7F0-206D-7376-0500-2FCED103B832}"/>
              </a:ext>
            </a:extLst>
          </p:cNvPr>
          <p:cNvSpPr/>
          <p:nvPr/>
        </p:nvSpPr>
        <p:spPr>
          <a:xfrm>
            <a:off x="11155680" y="661921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121" name="Shape 100">
            <a:extLst>
              <a:ext uri="{FF2B5EF4-FFF2-40B4-BE49-F238E27FC236}">
                <a16:creationId xmlns:a16="http://schemas.microsoft.com/office/drawing/2014/main" id="{74D9B4E9-BC8A-C95F-E47F-D434CDFC8E75}"/>
              </a:ext>
            </a:extLst>
          </p:cNvPr>
          <p:cNvSpPr/>
          <p:nvPr/>
        </p:nvSpPr>
        <p:spPr>
          <a:xfrm>
            <a:off x="6576701" y="4346287"/>
            <a:ext cx="1028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65">
            <a:extLst>
              <a:ext uri="{FF2B5EF4-FFF2-40B4-BE49-F238E27FC236}">
                <a16:creationId xmlns:a16="http://schemas.microsoft.com/office/drawing/2014/main" id="{929F5C3B-BD02-13E2-7AB3-87907A0A3625}"/>
              </a:ext>
            </a:extLst>
          </p:cNvPr>
          <p:cNvSpPr/>
          <p:nvPr/>
        </p:nvSpPr>
        <p:spPr>
          <a:xfrm>
            <a:off x="10344552" y="4201277"/>
            <a:ext cx="12119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📮 </a:t>
            </a:r>
            <a:r>
              <a:rPr lang="en-US" sz="1400" b="1" dirty="0">
                <a:solidFill>
                  <a:srgbClr val="0F172A"/>
                </a:solidFill>
              </a:rPr>
              <a:t>Nodemailer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SMTP</a:t>
            </a:r>
            <a:endParaRPr lang="en-US" sz="1400" dirty="0"/>
          </a:p>
        </p:txBody>
      </p:sp>
      <p:sp>
        <p:nvSpPr>
          <p:cNvPr id="123" name="Shape 68">
            <a:extLst>
              <a:ext uri="{FF2B5EF4-FFF2-40B4-BE49-F238E27FC236}">
                <a16:creationId xmlns:a16="http://schemas.microsoft.com/office/drawing/2014/main" id="{C396359C-A26E-E288-3DD3-9BEDFC3E5D8D}"/>
              </a:ext>
            </a:extLst>
          </p:cNvPr>
          <p:cNvSpPr/>
          <p:nvPr/>
        </p:nvSpPr>
        <p:spPr>
          <a:xfrm flipH="1">
            <a:off x="969264" y="1105387"/>
            <a:ext cx="1311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68">
            <a:extLst>
              <a:ext uri="{FF2B5EF4-FFF2-40B4-BE49-F238E27FC236}">
                <a16:creationId xmlns:a16="http://schemas.microsoft.com/office/drawing/2014/main" id="{A1CE83AB-DDCC-93FB-9F80-60CEDAA68CD3}"/>
              </a:ext>
            </a:extLst>
          </p:cNvPr>
          <p:cNvSpPr/>
          <p:nvPr/>
        </p:nvSpPr>
        <p:spPr>
          <a:xfrm flipH="1">
            <a:off x="976642" y="1933220"/>
            <a:ext cx="1311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68">
            <a:extLst>
              <a:ext uri="{FF2B5EF4-FFF2-40B4-BE49-F238E27FC236}">
                <a16:creationId xmlns:a16="http://schemas.microsoft.com/office/drawing/2014/main" id="{FF76B7DF-B463-585D-B6C7-6F81FF16276F}"/>
              </a:ext>
            </a:extLst>
          </p:cNvPr>
          <p:cNvSpPr/>
          <p:nvPr/>
        </p:nvSpPr>
        <p:spPr>
          <a:xfrm flipH="1">
            <a:off x="969264" y="2842746"/>
            <a:ext cx="1311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68">
            <a:extLst>
              <a:ext uri="{FF2B5EF4-FFF2-40B4-BE49-F238E27FC236}">
                <a16:creationId xmlns:a16="http://schemas.microsoft.com/office/drawing/2014/main" id="{92D03324-9316-61DF-2E1C-C689A5D47E47}"/>
              </a:ext>
            </a:extLst>
          </p:cNvPr>
          <p:cNvSpPr/>
          <p:nvPr/>
        </p:nvSpPr>
        <p:spPr>
          <a:xfrm flipH="1">
            <a:off x="10133194" y="1372159"/>
            <a:ext cx="833628" cy="1262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7" name="Shape 68">
            <a:extLst>
              <a:ext uri="{FF2B5EF4-FFF2-40B4-BE49-F238E27FC236}">
                <a16:creationId xmlns:a16="http://schemas.microsoft.com/office/drawing/2014/main" id="{B440BCB1-595A-412C-E71F-4A2A948C6F30}"/>
              </a:ext>
            </a:extLst>
          </p:cNvPr>
          <p:cNvSpPr/>
          <p:nvPr/>
        </p:nvSpPr>
        <p:spPr>
          <a:xfrm flipH="1" flipV="1">
            <a:off x="10974203" y="1372157"/>
            <a:ext cx="0" cy="2335341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96">
            <a:extLst>
              <a:ext uri="{FF2B5EF4-FFF2-40B4-BE49-F238E27FC236}">
                <a16:creationId xmlns:a16="http://schemas.microsoft.com/office/drawing/2014/main" id="{C0D88C59-3C34-0C43-7031-65CD69920D14}"/>
              </a:ext>
            </a:extLst>
          </p:cNvPr>
          <p:cNvSpPr/>
          <p:nvPr/>
        </p:nvSpPr>
        <p:spPr>
          <a:xfrm>
            <a:off x="4151377" y="1384787"/>
            <a:ext cx="0" cy="51086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52">
            <a:extLst>
              <a:ext uri="{FF2B5EF4-FFF2-40B4-BE49-F238E27FC236}">
                <a16:creationId xmlns:a16="http://schemas.microsoft.com/office/drawing/2014/main" id="{659950A1-D1C9-B2BE-264B-39545FB74B66}"/>
              </a:ext>
            </a:extLst>
          </p:cNvPr>
          <p:cNvSpPr/>
          <p:nvPr/>
        </p:nvSpPr>
        <p:spPr>
          <a:xfrm>
            <a:off x="9118733" y="991129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0" name="Text 53">
            <a:extLst>
              <a:ext uri="{FF2B5EF4-FFF2-40B4-BE49-F238E27FC236}">
                <a16:creationId xmlns:a16="http://schemas.microsoft.com/office/drawing/2014/main" id="{87B43061-C969-7C64-BAEC-7BCFCCDED666}"/>
              </a:ext>
            </a:extLst>
          </p:cNvPr>
          <p:cNvSpPr/>
          <p:nvPr/>
        </p:nvSpPr>
        <p:spPr>
          <a:xfrm>
            <a:off x="8991239" y="991129"/>
            <a:ext cx="11419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⚡ </a:t>
            </a:r>
            <a:r>
              <a:rPr lang="en-US" sz="800" b="1" dirty="0">
                <a:solidFill>
                  <a:srgbClr val="0F172A"/>
                </a:solidFill>
              </a:rPr>
              <a:t>Groq Whisper 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Transcript</a:t>
            </a:r>
            <a:endParaRPr lang="en-US" sz="1300" dirty="0"/>
          </a:p>
        </p:txBody>
      </p:sp>
      <p:sp>
        <p:nvSpPr>
          <p:cNvPr id="131" name="Shape 68">
            <a:extLst>
              <a:ext uri="{FF2B5EF4-FFF2-40B4-BE49-F238E27FC236}">
                <a16:creationId xmlns:a16="http://schemas.microsoft.com/office/drawing/2014/main" id="{C5C9577E-9F7C-1B9A-1A5A-C14185AE3815}"/>
              </a:ext>
            </a:extLst>
          </p:cNvPr>
          <p:cNvSpPr/>
          <p:nvPr/>
        </p:nvSpPr>
        <p:spPr>
          <a:xfrm flipH="1">
            <a:off x="7081379" y="1379551"/>
            <a:ext cx="2000778" cy="68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2" name="Shape 52">
            <a:extLst>
              <a:ext uri="{FF2B5EF4-FFF2-40B4-BE49-F238E27FC236}">
                <a16:creationId xmlns:a16="http://schemas.microsoft.com/office/drawing/2014/main" id="{E202A4BB-74A3-A5CC-3BB0-A0701313689D}"/>
              </a:ext>
            </a:extLst>
          </p:cNvPr>
          <p:cNvSpPr/>
          <p:nvPr/>
        </p:nvSpPr>
        <p:spPr>
          <a:xfrm>
            <a:off x="6106502" y="991129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27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3" name="Text 53">
            <a:extLst>
              <a:ext uri="{FF2B5EF4-FFF2-40B4-BE49-F238E27FC236}">
                <a16:creationId xmlns:a16="http://schemas.microsoft.com/office/drawing/2014/main" id="{B107FBD3-2E8B-BA20-9372-E162CA31F76B}"/>
              </a:ext>
            </a:extLst>
          </p:cNvPr>
          <p:cNvSpPr/>
          <p:nvPr/>
        </p:nvSpPr>
        <p:spPr>
          <a:xfrm>
            <a:off x="5987632" y="957184"/>
            <a:ext cx="11419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⚡ </a:t>
            </a:r>
            <a:r>
              <a:rPr lang="en-US" sz="800" b="1" dirty="0">
                <a:solidFill>
                  <a:srgbClr val="0F172A"/>
                </a:solidFill>
              </a:rPr>
              <a:t>Gemini 2.5 </a:t>
            </a:r>
            <a:endParaRPr lang="en-US" sz="13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Scores + Skills</a:t>
            </a:r>
            <a:endParaRPr lang="en-US" sz="1300" dirty="0"/>
          </a:p>
        </p:txBody>
      </p:sp>
      <p:sp>
        <p:nvSpPr>
          <p:cNvPr id="134" name="Shape 68">
            <a:extLst>
              <a:ext uri="{FF2B5EF4-FFF2-40B4-BE49-F238E27FC236}">
                <a16:creationId xmlns:a16="http://schemas.microsoft.com/office/drawing/2014/main" id="{35A42799-2110-76BD-E312-E9075A876654}"/>
              </a:ext>
            </a:extLst>
          </p:cNvPr>
          <p:cNvSpPr/>
          <p:nvPr/>
        </p:nvSpPr>
        <p:spPr>
          <a:xfrm flipH="1" flipV="1">
            <a:off x="4151377" y="1372157"/>
            <a:ext cx="1955125" cy="14254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tailEnd type="none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7C734E-F362-6A2A-5BCD-A3A983E8C980}"/>
              </a:ext>
            </a:extLst>
          </p:cNvPr>
          <p:cNvSpPr txBox="1"/>
          <p:nvPr/>
        </p:nvSpPr>
        <p:spPr>
          <a:xfrm>
            <a:off x="6520822" y="2072451"/>
            <a:ext cx="11622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Embedding Inference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812970-F6E4-5A9E-8F72-34997750D6B4}"/>
              </a:ext>
            </a:extLst>
          </p:cNvPr>
          <p:cNvSpPr txBox="1"/>
          <p:nvPr/>
        </p:nvSpPr>
        <p:spPr>
          <a:xfrm>
            <a:off x="6586562" y="2695936"/>
            <a:ext cx="1045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Store Embeddings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54AF6A5-E76D-9D3B-D534-42DB08C426A0}"/>
              </a:ext>
            </a:extLst>
          </p:cNvPr>
          <p:cNvSpPr txBox="1"/>
          <p:nvPr/>
        </p:nvSpPr>
        <p:spPr>
          <a:xfrm>
            <a:off x="6576701" y="2376144"/>
            <a:ext cx="8448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Resume Scoring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81D2AB3-4D8B-BE19-7474-0581CEE352BA}"/>
              </a:ext>
            </a:extLst>
          </p:cNvPr>
          <p:cNvSpPr txBox="1"/>
          <p:nvPr/>
        </p:nvSpPr>
        <p:spPr>
          <a:xfrm>
            <a:off x="6549777" y="3431887"/>
            <a:ext cx="9180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Candidate CRUD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37B90B7-BEEF-7349-9F4E-7CA2CA135FAD}"/>
              </a:ext>
            </a:extLst>
          </p:cNvPr>
          <p:cNvSpPr txBox="1"/>
          <p:nvPr/>
        </p:nvSpPr>
        <p:spPr>
          <a:xfrm>
            <a:off x="6576701" y="4159734"/>
            <a:ext cx="1009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Slot Management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7EB23C0-EA00-3166-7AFE-7B249B932AAF}"/>
              </a:ext>
            </a:extLst>
          </p:cNvPr>
          <p:cNvSpPr txBox="1"/>
          <p:nvPr/>
        </p:nvSpPr>
        <p:spPr>
          <a:xfrm>
            <a:off x="6576681" y="5228886"/>
            <a:ext cx="1009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Request Tracking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52F580F-CB72-0981-D43C-D5A71B23EDC7}"/>
              </a:ext>
            </a:extLst>
          </p:cNvPr>
          <p:cNvSpPr txBox="1"/>
          <p:nvPr/>
        </p:nvSpPr>
        <p:spPr>
          <a:xfrm>
            <a:off x="6585824" y="6009993"/>
            <a:ext cx="10755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Calendar Integration</a:t>
            </a:r>
          </a:p>
        </p:txBody>
      </p:sp>
      <p:sp>
        <p:nvSpPr>
          <p:cNvPr id="142" name="Shape 68">
            <a:extLst>
              <a:ext uri="{FF2B5EF4-FFF2-40B4-BE49-F238E27FC236}">
                <a16:creationId xmlns:a16="http://schemas.microsoft.com/office/drawing/2014/main" id="{498386D1-EEFC-5BA6-4F5C-AF919512B1E9}"/>
              </a:ext>
            </a:extLst>
          </p:cNvPr>
          <p:cNvSpPr/>
          <p:nvPr/>
        </p:nvSpPr>
        <p:spPr>
          <a:xfrm flipH="1" flipV="1">
            <a:off x="6576699" y="4602756"/>
            <a:ext cx="1028729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3" name="Shape 68">
            <a:extLst>
              <a:ext uri="{FF2B5EF4-FFF2-40B4-BE49-F238E27FC236}">
                <a16:creationId xmlns:a16="http://schemas.microsoft.com/office/drawing/2014/main" id="{41C7EDD9-2A4F-FC35-2878-03567996F4AB}"/>
              </a:ext>
            </a:extLst>
          </p:cNvPr>
          <p:cNvSpPr/>
          <p:nvPr/>
        </p:nvSpPr>
        <p:spPr>
          <a:xfrm flipH="1" flipV="1">
            <a:off x="6601709" y="2550139"/>
            <a:ext cx="992907" cy="7806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C521269-491F-C7F2-96BD-71EA1ACDBD06}"/>
              </a:ext>
            </a:extLst>
          </p:cNvPr>
          <p:cNvSpPr txBox="1"/>
          <p:nvPr/>
        </p:nvSpPr>
        <p:spPr>
          <a:xfrm>
            <a:off x="7639547" y="1218474"/>
            <a:ext cx="9180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Video Analyzing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18062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291C0-B806-A350-48BA-1552F0F30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836EE5-9D71-DF26-9C05-7DE28B6B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1A819-5CD5-8E71-3CC7-B13400D9BED5}"/>
              </a:ext>
            </a:extLst>
          </p:cNvPr>
          <p:cNvSpPr txBox="1"/>
          <p:nvPr/>
        </p:nvSpPr>
        <p:spPr>
          <a:xfrm>
            <a:off x="344985" y="25402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Application Startup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18A19-1F17-DDBD-E160-38026DF5E32F}"/>
              </a:ext>
            </a:extLst>
          </p:cNvPr>
          <p:cNvSpPr txBox="1"/>
          <p:nvPr/>
        </p:nvSpPr>
        <p:spPr>
          <a:xfrm>
            <a:off x="344985" y="1051560"/>
            <a:ext cx="1133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/>
              <a:t>src</a:t>
            </a:r>
            <a:r>
              <a:rPr sz="1100" b="0" i="0" dirty="0"/>
              <a:t>/server.js  —  orchestrates every subsystem in sequence before HTTP binds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96DE76-D206-A4C9-B747-E74AACB2A800}"/>
              </a:ext>
            </a:extLst>
          </p:cNvPr>
          <p:cNvSpPr/>
          <p:nvPr/>
        </p:nvSpPr>
        <p:spPr>
          <a:xfrm>
            <a:off x="411480" y="1389888"/>
            <a:ext cx="11338560" cy="127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E30F5A-7D8A-3E66-E322-BBD3BB947DF6}"/>
              </a:ext>
            </a:extLst>
          </p:cNvPr>
          <p:cNvSpPr/>
          <p:nvPr/>
        </p:nvSpPr>
        <p:spPr>
          <a:xfrm>
            <a:off x="411480" y="1536192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8FBF9-A484-AA03-CA7B-CFCA6FB0E5EC}"/>
              </a:ext>
            </a:extLst>
          </p:cNvPr>
          <p:cNvSpPr txBox="1"/>
          <p:nvPr/>
        </p:nvSpPr>
        <p:spPr>
          <a:xfrm>
            <a:off x="419100" y="154990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8B4EBD-DC34-B1FF-B642-D971714FADD1}"/>
              </a:ext>
            </a:extLst>
          </p:cNvPr>
          <p:cNvSpPr txBox="1"/>
          <p:nvPr/>
        </p:nvSpPr>
        <p:spPr>
          <a:xfrm>
            <a:off x="777240" y="1499616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validateEnv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F30DF9-6AEB-D2C6-D3C8-737F435A8B17}"/>
              </a:ext>
            </a:extLst>
          </p:cNvPr>
          <p:cNvSpPr txBox="1"/>
          <p:nvPr/>
        </p:nvSpPr>
        <p:spPr>
          <a:xfrm>
            <a:off x="777240" y="1682496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Checks GROQ_API_KEY, GMAIL_USER, PGHOST and all required vars. Calls </a:t>
            </a:r>
            <a:r>
              <a:rPr sz="1000" b="0" i="0" dirty="0" err="1"/>
              <a:t>process.exit</a:t>
            </a:r>
            <a:r>
              <a:rPr sz="1000" b="0" i="0" dirty="0"/>
              <a:t>(1) on missing.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02F063-1FCD-7F9E-7670-DF6F0A4FB3BD}"/>
              </a:ext>
            </a:extLst>
          </p:cNvPr>
          <p:cNvSpPr/>
          <p:nvPr/>
        </p:nvSpPr>
        <p:spPr>
          <a:xfrm>
            <a:off x="411480" y="1911096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8B10AB-DE45-E95B-A9F7-82219D4A7985}"/>
              </a:ext>
            </a:extLst>
          </p:cNvPr>
          <p:cNvSpPr txBox="1"/>
          <p:nvPr/>
        </p:nvSpPr>
        <p:spPr>
          <a:xfrm>
            <a:off x="419100" y="192480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F38963-B26A-4A1D-AB6C-EC4DBE072BBD}"/>
              </a:ext>
            </a:extLst>
          </p:cNvPr>
          <p:cNvSpPr txBox="1"/>
          <p:nvPr/>
        </p:nvSpPr>
        <p:spPr>
          <a:xfrm>
            <a:off x="777240" y="187452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initDB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AE0CE-860A-EDD1-6706-28FB199B3EB7}"/>
              </a:ext>
            </a:extLst>
          </p:cNvPr>
          <p:cNvSpPr txBox="1"/>
          <p:nvPr/>
        </p:nvSpPr>
        <p:spPr>
          <a:xfrm>
            <a:off x="777240" y="2057400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Runs </a:t>
            </a:r>
            <a:r>
              <a:rPr sz="1000" b="0" i="0" dirty="0" err="1"/>
              <a:t>ensureDatabase</a:t>
            </a:r>
            <a:r>
              <a:rPr sz="1000" b="0" i="0" dirty="0"/>
              <a:t>() → creates 11 tables, all ALTER TABLE migrations, seeds default admin account.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DB8D07-437D-3335-82D3-93D06A799B80}"/>
              </a:ext>
            </a:extLst>
          </p:cNvPr>
          <p:cNvSpPr/>
          <p:nvPr/>
        </p:nvSpPr>
        <p:spPr>
          <a:xfrm>
            <a:off x="411480" y="228600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6AAE4-EE99-4E32-065B-46F683508788}"/>
              </a:ext>
            </a:extLst>
          </p:cNvPr>
          <p:cNvSpPr txBox="1"/>
          <p:nvPr/>
        </p:nvSpPr>
        <p:spPr>
          <a:xfrm>
            <a:off x="419100" y="229971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63F95B-D1DD-E85B-59E4-E7A2A163178C}"/>
              </a:ext>
            </a:extLst>
          </p:cNvPr>
          <p:cNvSpPr txBox="1"/>
          <p:nvPr/>
        </p:nvSpPr>
        <p:spPr>
          <a:xfrm>
            <a:off x="777240" y="2249424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initMCPClients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60F122-D924-38DA-CDA8-48035F9BF5EF}"/>
              </a:ext>
            </a:extLst>
          </p:cNvPr>
          <p:cNvSpPr txBox="1"/>
          <p:nvPr/>
        </p:nvSpPr>
        <p:spPr>
          <a:xfrm>
            <a:off x="777240" y="2432304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Spawns 4 local MCP servers via </a:t>
            </a:r>
            <a:r>
              <a:rPr sz="1000" b="0" i="0" dirty="0" err="1"/>
              <a:t>StdioClientTransport</a:t>
            </a:r>
            <a:r>
              <a:rPr sz="1000" b="0" i="0" dirty="0"/>
              <a:t>. Registers 10 delegation tools. Sets </a:t>
            </a:r>
            <a:r>
              <a:rPr sz="1000" b="0" i="0" dirty="0" err="1"/>
              <a:t>mcpAvailable</a:t>
            </a:r>
            <a:r>
              <a:rPr sz="1000" b="0" i="0" dirty="0"/>
              <a:t>=true.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735062-E0FA-CB42-ACC5-89D93E01D876}"/>
              </a:ext>
            </a:extLst>
          </p:cNvPr>
          <p:cNvSpPr/>
          <p:nvPr/>
        </p:nvSpPr>
        <p:spPr>
          <a:xfrm>
            <a:off x="411480" y="2660904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8CE47A-560D-7DE6-69BA-7E24D265F8E4}"/>
              </a:ext>
            </a:extLst>
          </p:cNvPr>
          <p:cNvSpPr txBox="1"/>
          <p:nvPr/>
        </p:nvSpPr>
        <p:spPr>
          <a:xfrm>
            <a:off x="407854" y="2693341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2BDD05-F9F1-D27B-A3BB-F1E2101A40CA}"/>
              </a:ext>
            </a:extLst>
          </p:cNvPr>
          <p:cNvSpPr txBox="1"/>
          <p:nvPr/>
        </p:nvSpPr>
        <p:spPr>
          <a:xfrm>
            <a:off x="777240" y="2624328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createGraph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0627E3-F76F-5490-1ECE-5BB46D6DC722}"/>
              </a:ext>
            </a:extLst>
          </p:cNvPr>
          <p:cNvSpPr txBox="1"/>
          <p:nvPr/>
        </p:nvSpPr>
        <p:spPr>
          <a:xfrm>
            <a:off x="777240" y="2807208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Builds </a:t>
            </a:r>
            <a:r>
              <a:rPr sz="1000" b="0" i="0" dirty="0" err="1"/>
              <a:t>LangGraph</a:t>
            </a:r>
            <a:r>
              <a:rPr sz="1000" b="0" i="0" dirty="0"/>
              <a:t> </a:t>
            </a:r>
            <a:r>
              <a:rPr sz="1000" b="0" i="0" dirty="0" err="1"/>
              <a:t>StateGraph</a:t>
            </a:r>
            <a:r>
              <a:rPr sz="1000" b="0" i="0" dirty="0"/>
              <a:t> with 4 nodes. Attaches </a:t>
            </a:r>
            <a:r>
              <a:rPr sz="1000" b="0" i="0" dirty="0" err="1"/>
              <a:t>PostgresSaver</a:t>
            </a:r>
            <a:r>
              <a:rPr sz="1000" b="0" i="0" dirty="0"/>
              <a:t> (falls back to </a:t>
            </a:r>
            <a:r>
              <a:rPr sz="1000" b="0" i="0" dirty="0" err="1"/>
              <a:t>MemorySaver</a:t>
            </a:r>
            <a:r>
              <a:rPr sz="1000" b="0" i="0" dirty="0"/>
              <a:t>). Compiles.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C3F1E89-ED7C-9B98-7173-CD532B45861D}"/>
              </a:ext>
            </a:extLst>
          </p:cNvPr>
          <p:cNvSpPr/>
          <p:nvPr/>
        </p:nvSpPr>
        <p:spPr>
          <a:xfrm>
            <a:off x="411480" y="3035808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490610-268C-2BD4-F578-72A3227D008D}"/>
              </a:ext>
            </a:extLst>
          </p:cNvPr>
          <p:cNvSpPr txBox="1"/>
          <p:nvPr/>
        </p:nvSpPr>
        <p:spPr>
          <a:xfrm>
            <a:off x="419100" y="304951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6412E5-C66F-2E0F-598D-3933BED81B77}"/>
              </a:ext>
            </a:extLst>
          </p:cNvPr>
          <p:cNvSpPr txBox="1"/>
          <p:nvPr/>
        </p:nvSpPr>
        <p:spPr>
          <a:xfrm>
            <a:off x="777240" y="2999232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createApp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B5C575-77BA-FD20-CD24-D0A12DA8A115}"/>
              </a:ext>
            </a:extLst>
          </p:cNvPr>
          <p:cNvSpPr txBox="1"/>
          <p:nvPr/>
        </p:nvSpPr>
        <p:spPr>
          <a:xfrm>
            <a:off x="777240" y="3182112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Express with session (connect-</a:t>
            </a:r>
            <a:r>
              <a:rPr sz="1000" b="0" i="0" dirty="0" err="1"/>
              <a:t>pg</a:t>
            </a:r>
            <a:r>
              <a:rPr sz="1000" b="0" i="0" dirty="0"/>
              <a:t>-simple), Pug views, </a:t>
            </a:r>
            <a:r>
              <a:rPr sz="1000" b="0" i="0" dirty="0" err="1"/>
              <a:t>multer</a:t>
            </a:r>
            <a:r>
              <a:rPr sz="1000" b="0" i="0" dirty="0"/>
              <a:t>, and 8 route groups mounted.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7C04091-1EB8-C359-1CA8-77EF2BB9AF3A}"/>
              </a:ext>
            </a:extLst>
          </p:cNvPr>
          <p:cNvSpPr/>
          <p:nvPr/>
        </p:nvSpPr>
        <p:spPr>
          <a:xfrm>
            <a:off x="411480" y="3410712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539F0A-58B3-0E52-5C5C-8F7725D62144}"/>
              </a:ext>
            </a:extLst>
          </p:cNvPr>
          <p:cNvSpPr txBox="1"/>
          <p:nvPr/>
        </p:nvSpPr>
        <p:spPr>
          <a:xfrm>
            <a:off x="419100" y="342442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7724E8-0BC0-2DF5-DD33-D08B78DCF067}"/>
              </a:ext>
            </a:extLst>
          </p:cNvPr>
          <p:cNvSpPr txBox="1"/>
          <p:nvPr/>
        </p:nvSpPr>
        <p:spPr>
          <a:xfrm>
            <a:off x="777240" y="3374136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startCVWatcher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FC46CD-96BF-7B71-A54F-161CD4508858}"/>
              </a:ext>
            </a:extLst>
          </p:cNvPr>
          <p:cNvSpPr txBox="1"/>
          <p:nvPr/>
        </p:nvSpPr>
        <p:spPr>
          <a:xfrm>
            <a:off x="777240" y="3557016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/>
              <a:t>chokidar</a:t>
            </a:r>
            <a:r>
              <a:rPr sz="1000" b="0" i="0" dirty="0"/>
              <a:t> watches /</a:t>
            </a:r>
            <a:r>
              <a:rPr sz="1000" b="0" i="0" dirty="0" err="1"/>
              <a:t>cvs</a:t>
            </a:r>
            <a:r>
              <a:rPr sz="1000" b="0" i="0" dirty="0"/>
              <a:t>/ at depth=1. On 'add' event for PDF/DOC/DOCX → invokes compiled graph.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D0536D1-B122-4DBC-2EAF-2B86BD0EC18F}"/>
              </a:ext>
            </a:extLst>
          </p:cNvPr>
          <p:cNvSpPr/>
          <p:nvPr/>
        </p:nvSpPr>
        <p:spPr>
          <a:xfrm>
            <a:off x="411480" y="3785616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2D656B-E314-78D1-B7CE-54BF49725469}"/>
              </a:ext>
            </a:extLst>
          </p:cNvPr>
          <p:cNvSpPr txBox="1"/>
          <p:nvPr/>
        </p:nvSpPr>
        <p:spPr>
          <a:xfrm>
            <a:off x="419100" y="379932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C42CE-E30B-056B-5A36-2DD3EA723116}"/>
              </a:ext>
            </a:extLst>
          </p:cNvPr>
          <p:cNvSpPr txBox="1"/>
          <p:nvPr/>
        </p:nvSpPr>
        <p:spPr>
          <a:xfrm>
            <a:off x="777240" y="374904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startEmailIngest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68B2EC-156F-96D8-3F8A-D9DAEA82C9FC}"/>
              </a:ext>
            </a:extLst>
          </p:cNvPr>
          <p:cNvSpPr txBox="1"/>
          <p:nvPr/>
        </p:nvSpPr>
        <p:spPr>
          <a:xfrm>
            <a:off x="777240" y="3931920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Reads IMAP settings from DB. Polls inbox on configurable interval. Saves resume attachments to /</a:t>
            </a:r>
            <a:r>
              <a:rPr sz="1000" b="0" i="0" dirty="0" err="1"/>
              <a:t>cvs</a:t>
            </a:r>
            <a:r>
              <a:rPr sz="1000" b="0" i="0" dirty="0"/>
              <a:t>/auto/.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08CEA3-FA77-F7C4-B704-4AE986376F65}"/>
              </a:ext>
            </a:extLst>
          </p:cNvPr>
          <p:cNvSpPr/>
          <p:nvPr/>
        </p:nvSpPr>
        <p:spPr>
          <a:xfrm>
            <a:off x="411480" y="416052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8D4CA6-8CE8-5567-08F5-9491A6C8EEBF}"/>
              </a:ext>
            </a:extLst>
          </p:cNvPr>
          <p:cNvSpPr txBox="1"/>
          <p:nvPr/>
        </p:nvSpPr>
        <p:spPr>
          <a:xfrm>
            <a:off x="419100" y="417423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9DB9F6-A3A9-FC48-4DEA-E5DE33F5D744}"/>
              </a:ext>
            </a:extLst>
          </p:cNvPr>
          <p:cNvSpPr txBox="1"/>
          <p:nvPr/>
        </p:nvSpPr>
        <p:spPr>
          <a:xfrm>
            <a:off x="777240" y="4123944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startAutoSchedulePassedCandidates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46901D-CAF7-06EE-AC87-0E9BAAE1148F}"/>
              </a:ext>
            </a:extLst>
          </p:cNvPr>
          <p:cNvSpPr txBox="1"/>
          <p:nvPr/>
        </p:nvSpPr>
        <p:spPr>
          <a:xfrm>
            <a:off x="777240" y="4306824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Runs immediately then every 3 min. Finds status=Done candidates without a scheduled interview.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80A43F4-665C-9538-B1F0-59184CED995F}"/>
              </a:ext>
            </a:extLst>
          </p:cNvPr>
          <p:cNvSpPr/>
          <p:nvPr/>
        </p:nvSpPr>
        <p:spPr>
          <a:xfrm>
            <a:off x="411480" y="4535424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61E48C-5F07-8D6F-08CA-26F7DA09E0EF}"/>
              </a:ext>
            </a:extLst>
          </p:cNvPr>
          <p:cNvSpPr txBox="1"/>
          <p:nvPr/>
        </p:nvSpPr>
        <p:spPr>
          <a:xfrm>
            <a:off x="419100" y="454913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B9B06E-A661-1830-4E7E-33EFE41F10A6}"/>
              </a:ext>
            </a:extLst>
          </p:cNvPr>
          <p:cNvSpPr txBox="1"/>
          <p:nvPr/>
        </p:nvSpPr>
        <p:spPr>
          <a:xfrm>
            <a:off x="777240" y="4498848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startBulkOutcomeEmailWorker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220835-FAC3-45FD-EA73-5DC4AE012F7D}"/>
              </a:ext>
            </a:extLst>
          </p:cNvPr>
          <p:cNvSpPr txBox="1"/>
          <p:nvPr/>
        </p:nvSpPr>
        <p:spPr>
          <a:xfrm>
            <a:off x="777240" y="4681728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Ticks every minute. Within the 18:00 ± 30 min daily window, sends pass/fail emails to finalized candidates.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F3FB41E-56DD-B054-37B0-C398B7C7148B}"/>
              </a:ext>
            </a:extLst>
          </p:cNvPr>
          <p:cNvSpPr/>
          <p:nvPr/>
        </p:nvSpPr>
        <p:spPr>
          <a:xfrm>
            <a:off x="411480" y="4910328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F566C2-C662-FC5A-4866-638A16711D21}"/>
              </a:ext>
            </a:extLst>
          </p:cNvPr>
          <p:cNvSpPr txBox="1"/>
          <p:nvPr/>
        </p:nvSpPr>
        <p:spPr>
          <a:xfrm>
            <a:off x="382524" y="4940094"/>
            <a:ext cx="365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C9A64D-939C-1FD1-CE12-36DF0C8FCD05}"/>
              </a:ext>
            </a:extLst>
          </p:cNvPr>
          <p:cNvSpPr txBox="1"/>
          <p:nvPr/>
        </p:nvSpPr>
        <p:spPr>
          <a:xfrm>
            <a:off x="777240" y="4873752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startNoShowMonitor</a:t>
            </a:r>
            <a:r>
              <a:rPr sz="11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95D867-267C-903C-658F-82315CA4ED29}"/>
              </a:ext>
            </a:extLst>
          </p:cNvPr>
          <p:cNvSpPr txBox="1"/>
          <p:nvPr/>
        </p:nvSpPr>
        <p:spPr>
          <a:xfrm>
            <a:off x="777240" y="5056632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Ticks every hour. Finds confirmed interviews past </a:t>
            </a:r>
            <a:r>
              <a:rPr sz="1000" b="0" i="0" dirty="0" err="1"/>
              <a:t>slot_end</a:t>
            </a:r>
            <a:r>
              <a:rPr sz="1000" b="0" i="0" dirty="0"/>
              <a:t> with no </a:t>
            </a:r>
            <a:r>
              <a:rPr sz="1000" b="0" i="0" dirty="0" err="1"/>
              <a:t>completed_at</a:t>
            </a:r>
            <a:r>
              <a:rPr sz="1000" b="0" i="0" dirty="0"/>
              <a:t> → marks </a:t>
            </a:r>
            <a:r>
              <a:rPr sz="1000" b="0" i="0" dirty="0" err="1"/>
              <a:t>noshow</a:t>
            </a:r>
            <a:r>
              <a:rPr sz="1000" b="0" i="0" dirty="0"/>
              <a:t> → emails HR.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1012B08-0D2C-A84F-9A5D-FF6DE2E5E55A}"/>
              </a:ext>
            </a:extLst>
          </p:cNvPr>
          <p:cNvSpPr/>
          <p:nvPr/>
        </p:nvSpPr>
        <p:spPr>
          <a:xfrm>
            <a:off x="411480" y="5285232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EBBD50-2BEB-5300-738F-4816DF44DB5B}"/>
              </a:ext>
            </a:extLst>
          </p:cNvPr>
          <p:cNvSpPr txBox="1"/>
          <p:nvPr/>
        </p:nvSpPr>
        <p:spPr>
          <a:xfrm>
            <a:off x="382524" y="5322136"/>
            <a:ext cx="365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5E4405-A272-E00C-1599-14DCFA744BA4}"/>
              </a:ext>
            </a:extLst>
          </p:cNvPr>
          <p:cNvSpPr txBox="1"/>
          <p:nvPr/>
        </p:nvSpPr>
        <p:spPr>
          <a:xfrm>
            <a:off x="777240" y="5248656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startVideoReminderWorker</a:t>
            </a:r>
            <a:r>
              <a:rPr sz="1000" b="1" i="0" dirty="0">
                <a:solidFill>
                  <a:srgbClr val="4F8EFF"/>
                </a:solidFill>
              </a:rPr>
              <a:t>()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98A0CA-332D-188D-7DF5-2B37E2582EE9}"/>
              </a:ext>
            </a:extLst>
          </p:cNvPr>
          <p:cNvSpPr txBox="1"/>
          <p:nvPr/>
        </p:nvSpPr>
        <p:spPr>
          <a:xfrm>
            <a:off x="777240" y="5431536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Ticks every hour. Finds </a:t>
            </a:r>
            <a:r>
              <a:rPr sz="1000" b="0" i="0" dirty="0" err="1"/>
              <a:t>AwaitingVideo</a:t>
            </a:r>
            <a:r>
              <a:rPr sz="1000" b="0" i="0" dirty="0"/>
              <a:t> candidates older than 48 h with </a:t>
            </a:r>
            <a:r>
              <a:rPr sz="1000" b="0" i="0" dirty="0" err="1"/>
              <a:t>video_reminder_sent</a:t>
            </a:r>
            <a:r>
              <a:rPr sz="1000" b="0" i="0" dirty="0"/>
              <a:t>=FALSE.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15E94B-538D-044E-9D11-7E1B6DCC3E25}"/>
              </a:ext>
            </a:extLst>
          </p:cNvPr>
          <p:cNvSpPr/>
          <p:nvPr/>
        </p:nvSpPr>
        <p:spPr>
          <a:xfrm>
            <a:off x="411480" y="5660136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5FEAB9-5A0E-CEBD-6B91-52FFCC987F5F}"/>
              </a:ext>
            </a:extLst>
          </p:cNvPr>
          <p:cNvSpPr txBox="1"/>
          <p:nvPr/>
        </p:nvSpPr>
        <p:spPr>
          <a:xfrm>
            <a:off x="395952" y="5690139"/>
            <a:ext cx="3642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509299-0C2A-E602-AAFB-5A74D466B0B5}"/>
              </a:ext>
            </a:extLst>
          </p:cNvPr>
          <p:cNvSpPr txBox="1"/>
          <p:nvPr/>
        </p:nvSpPr>
        <p:spPr>
          <a:xfrm>
            <a:off x="777240" y="5623560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4F8EFF"/>
                </a:solidFill>
              </a:rPr>
              <a:t>app.listen</a:t>
            </a:r>
            <a:r>
              <a:rPr sz="1100" b="1" i="0" dirty="0">
                <a:solidFill>
                  <a:srgbClr val="4F8EFF"/>
                </a:solidFill>
              </a:rPr>
              <a:t>(PORT, HOST)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1E45EB-0337-A007-3320-F34B905387D9}"/>
              </a:ext>
            </a:extLst>
          </p:cNvPr>
          <p:cNvSpPr txBox="1"/>
          <p:nvPr/>
        </p:nvSpPr>
        <p:spPr>
          <a:xfrm>
            <a:off x="777240" y="5806440"/>
            <a:ext cx="6812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Binds HTTP server. Logs localhost + all LAN IPv4 URLs when HOST=0.0.0.0.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7AA4617-28C8-17E5-C4C4-ED151C5BC6B0}"/>
              </a:ext>
            </a:extLst>
          </p:cNvPr>
          <p:cNvSpPr/>
          <p:nvPr/>
        </p:nvSpPr>
        <p:spPr>
          <a:xfrm>
            <a:off x="7772400" y="1481328"/>
            <a:ext cx="4206240" cy="20116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B02262-EF64-875F-26A5-2EF94651E3E6}"/>
              </a:ext>
            </a:extLst>
          </p:cNvPr>
          <p:cNvSpPr txBox="1"/>
          <p:nvPr/>
        </p:nvSpPr>
        <p:spPr>
          <a:xfrm>
            <a:off x="7909560" y="1591056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/>
                </a:solidFill>
              </a:rPr>
              <a:t>6 BACKGROUND WORKERS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485990-8408-7FC6-8D86-7E9FFE5F7F2D}"/>
              </a:ext>
            </a:extLst>
          </p:cNvPr>
          <p:cNvSpPr txBox="1"/>
          <p:nvPr/>
        </p:nvSpPr>
        <p:spPr>
          <a:xfrm>
            <a:off x="7909560" y="1847088"/>
            <a:ext cx="3931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0" dirty="0">
                <a:solidFill>
                  <a:schemeClr val="bg1"/>
                </a:solidFill>
              </a:rPr>
              <a:t>▸ CV Watcher (</a:t>
            </a:r>
            <a:r>
              <a:rPr sz="1000" i="0" dirty="0" err="1">
                <a:solidFill>
                  <a:schemeClr val="bg1"/>
                </a:solidFill>
              </a:rPr>
              <a:t>chokidar</a:t>
            </a:r>
            <a:r>
              <a:rPr sz="1000" i="0" dirty="0">
                <a:solidFill>
                  <a:schemeClr val="bg1"/>
                </a:solidFill>
              </a:rPr>
              <a:t>)
▸ Email Ingest (IMAP)
▸ Auto-Schedule  (every 3 min)
▸ Bulk Email  (every 1 min)
▸ No-Show Monitor  (every 1 </a:t>
            </a:r>
            <a:r>
              <a:rPr sz="1000" i="0" dirty="0" err="1">
                <a:solidFill>
                  <a:schemeClr val="bg1"/>
                </a:solidFill>
              </a:rPr>
              <a:t>hr</a:t>
            </a:r>
            <a:r>
              <a:rPr sz="1000" i="0" dirty="0">
                <a:solidFill>
                  <a:schemeClr val="bg1"/>
                </a:solidFill>
              </a:rPr>
              <a:t>)
▸ Video Reminder  (every 1 </a:t>
            </a:r>
            <a:r>
              <a:rPr sz="1000" i="0" dirty="0" err="1">
                <a:solidFill>
                  <a:schemeClr val="bg1"/>
                </a:solidFill>
              </a:rPr>
              <a:t>hr</a:t>
            </a:r>
            <a:r>
              <a:rPr sz="1000" i="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EECD297-6A50-5E1D-2543-054B4C5C3930}"/>
              </a:ext>
            </a:extLst>
          </p:cNvPr>
          <p:cNvSpPr/>
          <p:nvPr/>
        </p:nvSpPr>
        <p:spPr>
          <a:xfrm>
            <a:off x="7772400" y="3657600"/>
            <a:ext cx="4206240" cy="20116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7B52BB-96F5-21A8-5986-1EB950BB8EDE}"/>
              </a:ext>
            </a:extLst>
          </p:cNvPr>
          <p:cNvSpPr txBox="1"/>
          <p:nvPr/>
        </p:nvSpPr>
        <p:spPr>
          <a:xfrm>
            <a:off x="7909560" y="3767328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/>
                </a:solidFill>
              </a:rPr>
              <a:t>CHECKPOINT PERSISTENCE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0126AA-A1FF-DE44-76DF-6524F46480DF}"/>
              </a:ext>
            </a:extLst>
          </p:cNvPr>
          <p:cNvSpPr txBox="1"/>
          <p:nvPr/>
        </p:nvSpPr>
        <p:spPr>
          <a:xfrm>
            <a:off x="7909560" y="4023360"/>
            <a:ext cx="39319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</a:rPr>
              <a:t>▸ Tries </a:t>
            </a:r>
            <a:r>
              <a:rPr sz="1000" b="0" i="0" dirty="0" err="1">
                <a:solidFill>
                  <a:schemeClr val="bg1"/>
                </a:solidFill>
              </a:rPr>
              <a:t>PostgresSaver</a:t>
            </a:r>
            <a:r>
              <a:rPr sz="1000" b="0" i="0" dirty="0">
                <a:solidFill>
                  <a:schemeClr val="bg1"/>
                </a:solidFill>
              </a:rPr>
              <a:t> first
▸ Falls back to </a:t>
            </a:r>
            <a:r>
              <a:rPr sz="1000" b="0" i="0" dirty="0" err="1">
                <a:solidFill>
                  <a:schemeClr val="bg1"/>
                </a:solidFill>
              </a:rPr>
              <a:t>MemorySaver</a:t>
            </a:r>
            <a:r>
              <a:rPr sz="1000" b="0" i="0" dirty="0">
                <a:solidFill>
                  <a:schemeClr val="bg1"/>
                </a:solidFill>
              </a:rPr>
              <a:t>
▸ State keyed by </a:t>
            </a:r>
            <a:r>
              <a:rPr sz="1000" b="0" i="0" dirty="0" err="1">
                <a:solidFill>
                  <a:schemeClr val="bg1"/>
                </a:solidFill>
              </a:rPr>
              <a:t>thread_id</a:t>
            </a:r>
            <a:r>
              <a:rPr sz="1000" b="0" i="0" dirty="0">
                <a:solidFill>
                  <a:schemeClr val="bg1"/>
                </a:solidFill>
              </a:rPr>
              <a:t> (UUID)
▸ Enables graph resume on crash
▸ </a:t>
            </a:r>
            <a:r>
              <a:rPr sz="1000" b="0" i="0" dirty="0" err="1">
                <a:solidFill>
                  <a:schemeClr val="bg1"/>
                </a:solidFill>
              </a:rPr>
              <a:t>connString</a:t>
            </a:r>
            <a:r>
              <a:rPr sz="1000" b="0" i="0" dirty="0">
                <a:solidFill>
                  <a:schemeClr val="bg1"/>
                </a:solidFill>
              </a:rPr>
              <a:t> built from PGHOST/PORT/DB/USER</a:t>
            </a:r>
          </a:p>
        </p:txBody>
      </p:sp>
    </p:spTree>
    <p:extLst>
      <p:ext uri="{BB962C8B-B14F-4D97-AF65-F5344CB8AC3E}">
        <p14:creationId xmlns:p14="http://schemas.microsoft.com/office/powerpoint/2010/main" val="298832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4AECB514-38FD-DF1F-1118-152562CDD779}"/>
              </a:ext>
            </a:extLst>
          </p:cNvPr>
          <p:cNvSpPr/>
          <p:nvPr/>
        </p:nvSpPr>
        <p:spPr>
          <a:xfrm>
            <a:off x="6126480" y="2532888"/>
            <a:ext cx="5577840" cy="457200"/>
          </a:xfrm>
          <a:prstGeom prst="rect">
            <a:avLst/>
          </a:prstGeom>
          <a:solidFill>
            <a:srgbClr val="FFFFF8"/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75A306-8960-7CC8-52E9-307616BA595E}"/>
              </a:ext>
            </a:extLst>
          </p:cNvPr>
          <p:cNvSpPr/>
          <p:nvPr/>
        </p:nvSpPr>
        <p:spPr>
          <a:xfrm>
            <a:off x="6126480" y="3831336"/>
            <a:ext cx="5577840" cy="457200"/>
          </a:xfrm>
          <a:prstGeom prst="rect">
            <a:avLst/>
          </a:prstGeom>
          <a:solidFill>
            <a:srgbClr val="FFFFF8"/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0430B-ADE2-2DAA-928A-43BBA2BD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F5E259-2B0C-ADD2-4B68-6FFCAE03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38BAE-B3F7-0128-2B06-43AC299273FB}"/>
              </a:ext>
            </a:extLst>
          </p:cNvPr>
          <p:cNvSpPr txBox="1"/>
          <p:nvPr/>
        </p:nvSpPr>
        <p:spPr>
          <a:xfrm>
            <a:off x="314577" y="318028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Resume Ingestion — 3 Entry Points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BB98E1-8DA5-7396-243C-F1E926B1E298}"/>
              </a:ext>
            </a:extLst>
          </p:cNvPr>
          <p:cNvSpPr/>
          <p:nvPr/>
        </p:nvSpPr>
        <p:spPr>
          <a:xfrm>
            <a:off x="6096000" y="1312164"/>
            <a:ext cx="5736336" cy="4571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FAA67-B8FD-D5AE-7052-E4EB1EBEA0CE}"/>
              </a:ext>
            </a:extLst>
          </p:cNvPr>
          <p:cNvSpPr txBox="1"/>
          <p:nvPr/>
        </p:nvSpPr>
        <p:spPr>
          <a:xfrm>
            <a:off x="359664" y="922504"/>
            <a:ext cx="54599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/>
              <a:t>All three entry paths invoke the same compiled graph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36855E-E0D0-831C-E769-28BBAF12F6B9}"/>
              </a:ext>
            </a:extLst>
          </p:cNvPr>
          <p:cNvSpPr/>
          <p:nvPr/>
        </p:nvSpPr>
        <p:spPr>
          <a:xfrm>
            <a:off x="409956" y="1197001"/>
            <a:ext cx="53035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96A6E7-47BF-7407-ED3A-7099DA49E86E}"/>
              </a:ext>
            </a:extLst>
          </p:cNvPr>
          <p:cNvSpPr txBox="1"/>
          <p:nvPr/>
        </p:nvSpPr>
        <p:spPr>
          <a:xfrm>
            <a:off x="574548" y="1288441"/>
            <a:ext cx="5102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70C0"/>
                </a:solidFill>
              </a:rPr>
              <a:t>PATH A — File System Drop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B8B23D-8854-98D1-C170-A61E20A49213}"/>
              </a:ext>
            </a:extLst>
          </p:cNvPr>
          <p:cNvSpPr txBox="1"/>
          <p:nvPr/>
        </p:nvSpPr>
        <p:spPr>
          <a:xfrm>
            <a:off x="574548" y="1526185"/>
            <a:ext cx="510235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475569"/>
                </a:solidFill>
              </a:rPr>
              <a:t>chokidar</a:t>
            </a:r>
            <a:r>
              <a:rPr sz="1100" b="0" i="0" dirty="0">
                <a:solidFill>
                  <a:srgbClr val="475569"/>
                </a:solidFill>
              </a:rPr>
              <a:t> watches /</a:t>
            </a:r>
            <a:r>
              <a:rPr sz="1100" b="0" i="0" dirty="0" err="1">
                <a:solidFill>
                  <a:srgbClr val="475569"/>
                </a:solidFill>
              </a:rPr>
              <a:t>cvs</a:t>
            </a:r>
            <a:r>
              <a:rPr sz="1100" b="0" i="0" dirty="0">
                <a:solidFill>
                  <a:srgbClr val="475569"/>
                </a:solidFill>
              </a:rPr>
              <a:t>/ at depth=1
/</a:t>
            </a:r>
            <a:r>
              <a:rPr sz="1100" b="0" i="0" dirty="0" err="1">
                <a:solidFill>
                  <a:srgbClr val="475569"/>
                </a:solidFill>
              </a:rPr>
              <a:t>cvs</a:t>
            </a:r>
            <a:r>
              <a:rPr sz="1100" b="0" i="0" dirty="0">
                <a:solidFill>
                  <a:srgbClr val="475569"/>
                </a:solidFill>
              </a:rPr>
              <a:t>/&lt;</a:t>
            </a:r>
            <a:r>
              <a:rPr sz="1100" b="0" i="0" dirty="0" err="1">
                <a:solidFill>
                  <a:srgbClr val="475569"/>
                </a:solidFill>
              </a:rPr>
              <a:t>uuid</a:t>
            </a:r>
            <a:r>
              <a:rPr sz="1100" b="0" i="0" dirty="0">
                <a:solidFill>
                  <a:srgbClr val="475569"/>
                </a:solidFill>
              </a:rPr>
              <a:t>&gt;/  →  pinned to that interview
/</a:t>
            </a:r>
            <a:r>
              <a:rPr sz="1100" b="0" i="0" dirty="0" err="1">
                <a:solidFill>
                  <a:srgbClr val="475569"/>
                </a:solidFill>
              </a:rPr>
              <a:t>cvs</a:t>
            </a:r>
            <a:r>
              <a:rPr sz="1100" b="0" i="0" dirty="0">
                <a:solidFill>
                  <a:srgbClr val="475569"/>
                </a:solidFill>
              </a:rPr>
              <a:t>/auto/   →  AI auto-match engine picks interview
Email extracted from filename or resume text
Invokes graph  →  moves file to /</a:t>
            </a:r>
            <a:r>
              <a:rPr sz="1100" b="0" i="0" dirty="0" err="1">
                <a:solidFill>
                  <a:srgbClr val="475569"/>
                </a:solidFill>
              </a:rPr>
              <a:t>cvs</a:t>
            </a:r>
            <a:r>
              <a:rPr sz="1100" b="0" i="0" dirty="0">
                <a:solidFill>
                  <a:srgbClr val="475569"/>
                </a:solidFill>
              </a:rPr>
              <a:t>/processed/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79A5A9-8CC0-9401-DFE6-E06612F6B40F}"/>
              </a:ext>
            </a:extLst>
          </p:cNvPr>
          <p:cNvSpPr/>
          <p:nvPr/>
        </p:nvSpPr>
        <p:spPr>
          <a:xfrm>
            <a:off x="409956" y="2861209"/>
            <a:ext cx="530352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FF6471-1605-7539-9CF2-205B30E91B2C}"/>
              </a:ext>
            </a:extLst>
          </p:cNvPr>
          <p:cNvSpPr txBox="1"/>
          <p:nvPr/>
        </p:nvSpPr>
        <p:spPr>
          <a:xfrm>
            <a:off x="574548" y="2952649"/>
            <a:ext cx="5102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D97706"/>
                </a:solidFill>
              </a:rPr>
              <a:t>PATH B — IMAP Email Ingest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9AFD59-CE66-0074-A807-D57EC00CCEAD}"/>
              </a:ext>
            </a:extLst>
          </p:cNvPr>
          <p:cNvSpPr txBox="1"/>
          <p:nvPr/>
        </p:nvSpPr>
        <p:spPr>
          <a:xfrm>
            <a:off x="574548" y="3190393"/>
            <a:ext cx="51023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475569"/>
                </a:solidFill>
              </a:rPr>
              <a:t>imapflow</a:t>
            </a:r>
            <a:r>
              <a:rPr sz="1100" b="0" i="0" dirty="0">
                <a:solidFill>
                  <a:srgbClr val="475569"/>
                </a:solidFill>
              </a:rPr>
              <a:t> connects via TLS to configured inbox
Polls for UNSEEN messages with PDF/DOC/DOCX attachments
Saves attachment to /</a:t>
            </a:r>
            <a:r>
              <a:rPr sz="1100" b="0" i="0" dirty="0" err="1">
                <a:solidFill>
                  <a:srgbClr val="475569"/>
                </a:solidFill>
              </a:rPr>
              <a:t>cvs</a:t>
            </a:r>
            <a:r>
              <a:rPr sz="1100" b="0" i="0" dirty="0">
                <a:solidFill>
                  <a:srgbClr val="475569"/>
                </a:solidFill>
              </a:rPr>
              <a:t>/auto/{</a:t>
            </a:r>
            <a:r>
              <a:rPr sz="1100" b="0" i="0" dirty="0" err="1">
                <a:solidFill>
                  <a:srgbClr val="475569"/>
                </a:solidFill>
              </a:rPr>
              <a:t>uid</a:t>
            </a:r>
            <a:r>
              <a:rPr sz="1100" b="0" i="0" dirty="0">
                <a:solidFill>
                  <a:srgbClr val="475569"/>
                </a:solidFill>
              </a:rPr>
              <a:t>}-{filename}
</a:t>
            </a:r>
            <a:r>
              <a:rPr sz="1100" b="0" i="0" dirty="0" err="1">
                <a:solidFill>
                  <a:srgbClr val="475569"/>
                </a:solidFill>
              </a:rPr>
              <a:t>chokidar</a:t>
            </a:r>
            <a:r>
              <a:rPr sz="1100" b="0" i="0" dirty="0">
                <a:solidFill>
                  <a:srgbClr val="475569"/>
                </a:solidFill>
              </a:rPr>
              <a:t> picks it up  →  PATH A continues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445781-BDA5-FD4A-D60E-94FF83F1822A}"/>
              </a:ext>
            </a:extLst>
          </p:cNvPr>
          <p:cNvSpPr/>
          <p:nvPr/>
        </p:nvSpPr>
        <p:spPr>
          <a:xfrm>
            <a:off x="409956" y="4324249"/>
            <a:ext cx="530352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0A6E45-0C23-E5E4-A268-28BDEA811E62}"/>
              </a:ext>
            </a:extLst>
          </p:cNvPr>
          <p:cNvSpPr txBox="1"/>
          <p:nvPr/>
        </p:nvSpPr>
        <p:spPr>
          <a:xfrm>
            <a:off x="574548" y="4415689"/>
            <a:ext cx="5102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3B82F6"/>
                </a:solidFill>
              </a:rPr>
              <a:t>PATH C — HTTP Upload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54AFE3-101A-EA25-D591-F7D3221C2709}"/>
              </a:ext>
            </a:extLst>
          </p:cNvPr>
          <p:cNvSpPr txBox="1"/>
          <p:nvPr/>
        </p:nvSpPr>
        <p:spPr>
          <a:xfrm>
            <a:off x="574548" y="4653433"/>
            <a:ext cx="51023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475569"/>
                </a:solidFill>
              </a:rPr>
              <a:t>POST /upload/:</a:t>
            </a:r>
            <a:r>
              <a:rPr sz="1100" b="0" i="0" dirty="0" err="1">
                <a:solidFill>
                  <a:srgbClr val="475569"/>
                </a:solidFill>
              </a:rPr>
              <a:t>threadId</a:t>
            </a:r>
            <a:r>
              <a:rPr sz="1100" b="0" i="0" dirty="0">
                <a:solidFill>
                  <a:srgbClr val="475569"/>
                </a:solidFill>
              </a:rPr>
              <a:t>  ·  </a:t>
            </a:r>
            <a:r>
              <a:rPr sz="1100" b="0" i="0" dirty="0" err="1">
                <a:solidFill>
                  <a:srgbClr val="475569"/>
                </a:solidFill>
              </a:rPr>
              <a:t>multer</a:t>
            </a:r>
            <a:r>
              <a:rPr sz="1100" b="0" i="0" dirty="0">
                <a:solidFill>
                  <a:srgbClr val="475569"/>
                </a:solidFill>
              </a:rPr>
              <a:t>  ·  max 200 MB
MIME validated after body received
</a:t>
            </a:r>
            <a:r>
              <a:rPr sz="1100" b="0" i="0" dirty="0" err="1">
                <a:solidFill>
                  <a:srgbClr val="475569"/>
                </a:solidFill>
              </a:rPr>
              <a:t>interviewId</a:t>
            </a:r>
            <a:r>
              <a:rPr sz="1100" b="0" i="0" dirty="0">
                <a:solidFill>
                  <a:srgbClr val="475569"/>
                </a:solidFill>
              </a:rPr>
              <a:t> from URL params or form body
Returns JSON  { success, </a:t>
            </a:r>
            <a:r>
              <a:rPr sz="1100" b="0" i="0" dirty="0" err="1">
                <a:solidFill>
                  <a:srgbClr val="475569"/>
                </a:solidFill>
              </a:rPr>
              <a:t>threadId</a:t>
            </a:r>
            <a:r>
              <a:rPr sz="1100" b="0" i="0" dirty="0">
                <a:solidFill>
                  <a:srgbClr val="475569"/>
                </a:solidFill>
              </a:rPr>
              <a:t> }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CEAEEB-858F-AE2C-E246-5E150D42063A}"/>
              </a:ext>
            </a:extLst>
          </p:cNvPr>
          <p:cNvSpPr/>
          <p:nvPr/>
        </p:nvSpPr>
        <p:spPr>
          <a:xfrm>
            <a:off x="429006" y="5790912"/>
            <a:ext cx="5303520" cy="658368"/>
          </a:xfrm>
          <a:prstGeom prst="rect">
            <a:avLst/>
          </a:prstGeom>
          <a:solidFill>
            <a:srgbClr val="F0F4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BA3592-73B3-F5A2-257D-8CDC6D8EC6FE}"/>
              </a:ext>
            </a:extLst>
          </p:cNvPr>
          <p:cNvSpPr txBox="1"/>
          <p:nvPr/>
        </p:nvSpPr>
        <p:spPr>
          <a:xfrm>
            <a:off x="584454" y="5854920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6366F1"/>
                </a:solidFill>
              </a:rPr>
              <a:t>AUTO-MATCH ENGINE  (for /</a:t>
            </a:r>
            <a:r>
              <a:rPr sz="1100" b="1" i="0" dirty="0" err="1">
                <a:solidFill>
                  <a:srgbClr val="6366F1"/>
                </a:solidFill>
              </a:rPr>
              <a:t>cvs</a:t>
            </a:r>
            <a:r>
              <a:rPr sz="1100" b="1" i="0" dirty="0">
                <a:solidFill>
                  <a:srgbClr val="6366F1"/>
                </a:solidFill>
              </a:rPr>
              <a:t>/auto/ &amp; IMAP paths)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7043AC-E6F4-CC2D-FDA9-E0F457AECCDF}"/>
              </a:ext>
            </a:extLst>
          </p:cNvPr>
          <p:cNvSpPr txBox="1"/>
          <p:nvPr/>
        </p:nvSpPr>
        <p:spPr>
          <a:xfrm>
            <a:off x="565893" y="6050957"/>
            <a:ext cx="52105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475569"/>
                </a:solidFill>
              </a:rPr>
              <a:t>Embed resume → </a:t>
            </a:r>
            <a:r>
              <a:rPr sz="1100" b="0" i="0" dirty="0" err="1">
                <a:solidFill>
                  <a:srgbClr val="475569"/>
                </a:solidFill>
              </a:rPr>
              <a:t>pgvector</a:t>
            </a:r>
            <a:r>
              <a:rPr sz="1100" b="0" i="0" dirty="0">
                <a:solidFill>
                  <a:srgbClr val="475569"/>
                </a:solidFill>
              </a:rPr>
              <a:t> cosine vs </a:t>
            </a:r>
            <a:r>
              <a:rPr sz="1100" b="0" i="0" dirty="0" err="1">
                <a:solidFill>
                  <a:srgbClr val="475569"/>
                </a:solidFill>
              </a:rPr>
              <a:t>jd_chunks</a:t>
            </a:r>
            <a:r>
              <a:rPr sz="1100" b="0" i="0" dirty="0">
                <a:solidFill>
                  <a:srgbClr val="475569"/>
                </a:solidFill>
              </a:rPr>
              <a:t> → top-3 interviews → </a:t>
            </a:r>
            <a:r>
              <a:rPr sz="1100" b="0" i="0" dirty="0" err="1">
                <a:solidFill>
                  <a:srgbClr val="475569"/>
                </a:solidFill>
              </a:rPr>
              <a:t>Groq</a:t>
            </a:r>
            <a:r>
              <a:rPr sz="1100" b="0" i="0" dirty="0">
                <a:solidFill>
                  <a:srgbClr val="475569"/>
                </a:solidFill>
              </a:rPr>
              <a:t> LLM picks best → returns { </a:t>
            </a:r>
            <a:r>
              <a:rPr sz="1100" b="0" i="0" dirty="0" err="1">
                <a:solidFill>
                  <a:srgbClr val="475569"/>
                </a:solidFill>
              </a:rPr>
              <a:t>interviewId</a:t>
            </a:r>
            <a:r>
              <a:rPr sz="1100" b="0" i="0" dirty="0">
                <a:solidFill>
                  <a:srgbClr val="475569"/>
                </a:solidFill>
              </a:rPr>
              <a:t>, confidence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635BB5-5995-B33B-6A59-165D7AE2163E}"/>
              </a:ext>
            </a:extLst>
          </p:cNvPr>
          <p:cNvSpPr txBox="1"/>
          <p:nvPr/>
        </p:nvSpPr>
        <p:spPr>
          <a:xfrm>
            <a:off x="6126480" y="1463040"/>
            <a:ext cx="5669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F172A"/>
                </a:solidFill>
              </a:rPr>
              <a:t>LANGGRAPH PIPELINE  —  4 Nodes + 2 Conditional Routers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9394E9-5791-5EED-0B9C-A8358B995842}"/>
              </a:ext>
            </a:extLst>
          </p:cNvPr>
          <p:cNvSpPr/>
          <p:nvPr/>
        </p:nvSpPr>
        <p:spPr>
          <a:xfrm>
            <a:off x="6126480" y="1783080"/>
            <a:ext cx="5577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6A7EE7-904E-D204-BD00-A9EE399405B0}"/>
              </a:ext>
            </a:extLst>
          </p:cNvPr>
          <p:cNvSpPr txBox="1"/>
          <p:nvPr/>
        </p:nvSpPr>
        <p:spPr>
          <a:xfrm>
            <a:off x="6291072" y="1837944"/>
            <a:ext cx="2861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70C0"/>
                </a:solidFill>
              </a:rPr>
              <a:t>Node 1  —  </a:t>
            </a:r>
            <a:r>
              <a:rPr sz="1050" b="1" i="0" dirty="0" err="1">
                <a:solidFill>
                  <a:srgbClr val="0070C0"/>
                </a:solidFill>
              </a:rPr>
              <a:t>check_domain_and_duplicate</a:t>
            </a:r>
            <a:endParaRPr sz="1050" b="1" i="0" dirty="0">
              <a:solidFill>
                <a:srgbClr val="0070C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FD5D96-342D-4C99-EE51-C0F8A4221859}"/>
              </a:ext>
            </a:extLst>
          </p:cNvPr>
          <p:cNvSpPr txBox="1"/>
          <p:nvPr/>
        </p:nvSpPr>
        <p:spPr>
          <a:xfrm>
            <a:off x="6291072" y="205740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</a:rPr>
              <a:t>SHA-256 hash → </a:t>
            </a:r>
            <a:r>
              <a:rPr sz="1050" b="0" i="0" dirty="0" err="1">
                <a:solidFill>
                  <a:srgbClr val="475569"/>
                </a:solidFill>
              </a:rPr>
              <a:t>dedup</a:t>
            </a:r>
            <a:r>
              <a:rPr sz="1050" b="0" i="0" dirty="0">
                <a:solidFill>
                  <a:srgbClr val="475569"/>
                </a:solidFill>
              </a:rPr>
              <a:t> check scoped to </a:t>
            </a:r>
            <a:r>
              <a:rPr sz="1050" b="0" i="0" dirty="0" err="1">
                <a:solidFill>
                  <a:srgbClr val="475569"/>
                </a:solidFill>
              </a:rPr>
              <a:t>interview_id</a:t>
            </a:r>
            <a:r>
              <a:rPr sz="1050" b="0" i="0" dirty="0">
                <a:solidFill>
                  <a:srgbClr val="475569"/>
                </a:solidFill>
              </a:rPr>
              <a:t> → INSERT candidates row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22AF79-6183-E564-31C3-815F3F2B3F5D}"/>
              </a:ext>
            </a:extLst>
          </p:cNvPr>
          <p:cNvSpPr txBox="1"/>
          <p:nvPr/>
        </p:nvSpPr>
        <p:spPr>
          <a:xfrm>
            <a:off x="6291072" y="2587752"/>
            <a:ext cx="201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70C0"/>
                </a:solidFill>
              </a:rPr>
              <a:t>⬡  </a:t>
            </a:r>
            <a:r>
              <a:rPr sz="1050" b="1" i="0" dirty="0" err="1">
                <a:solidFill>
                  <a:srgbClr val="0070C0"/>
                </a:solidFill>
              </a:rPr>
              <a:t>domainGate</a:t>
            </a:r>
            <a:r>
              <a:rPr sz="1050" b="1" i="0" dirty="0">
                <a:solidFill>
                  <a:srgbClr val="0070C0"/>
                </a:solidFill>
              </a:rPr>
              <a:t>()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CAF636-4901-B84E-DAA2-007336AC1659}"/>
              </a:ext>
            </a:extLst>
          </p:cNvPr>
          <p:cNvSpPr txBox="1"/>
          <p:nvPr/>
        </p:nvSpPr>
        <p:spPr>
          <a:xfrm>
            <a:off x="6313932" y="2771379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</a:rPr>
              <a:t>Duplicate → END  |  New → Node 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794599-C3B6-CCCF-B996-0E99D1B63AE7}"/>
              </a:ext>
            </a:extLst>
          </p:cNvPr>
          <p:cNvSpPr/>
          <p:nvPr/>
        </p:nvSpPr>
        <p:spPr>
          <a:xfrm>
            <a:off x="6126480" y="3081528"/>
            <a:ext cx="5577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572DA0-4FA5-58EB-1212-F26194387FBC}"/>
              </a:ext>
            </a:extLst>
          </p:cNvPr>
          <p:cNvSpPr txBox="1"/>
          <p:nvPr/>
        </p:nvSpPr>
        <p:spPr>
          <a:xfrm>
            <a:off x="6291072" y="3136392"/>
            <a:ext cx="20116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70C0"/>
                </a:solidFill>
              </a:rPr>
              <a:t>Node 2  —  </a:t>
            </a:r>
            <a:r>
              <a:rPr sz="1050" b="1" i="0" dirty="0" err="1">
                <a:solidFill>
                  <a:srgbClr val="0070C0"/>
                </a:solidFill>
              </a:rPr>
              <a:t>analyze_resume</a:t>
            </a:r>
            <a:endParaRPr sz="1050" b="1" i="0" dirty="0">
              <a:solidFill>
                <a:srgbClr val="0070C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D96371-FDEE-8532-ED38-D03A709C3B17}"/>
              </a:ext>
            </a:extLst>
          </p:cNvPr>
          <p:cNvSpPr txBox="1"/>
          <p:nvPr/>
        </p:nvSpPr>
        <p:spPr>
          <a:xfrm>
            <a:off x="6291072" y="3355848"/>
            <a:ext cx="5303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</a:rPr>
              <a:t>PDF/DOCX/DOC extract (3-strategy)  →  RAG: </a:t>
            </a:r>
            <a:r>
              <a:rPr sz="1050" b="0" i="0" dirty="0" err="1">
                <a:solidFill>
                  <a:srgbClr val="475569"/>
                </a:solidFill>
              </a:rPr>
              <a:t>pgvector</a:t>
            </a:r>
            <a:r>
              <a:rPr sz="1050" b="0" i="0" dirty="0">
                <a:solidFill>
                  <a:srgbClr val="475569"/>
                </a:solidFill>
              </a:rPr>
              <a:t> JD chunks  →  </a:t>
            </a:r>
            <a:r>
              <a:rPr sz="1050" b="0" i="0" dirty="0" err="1">
                <a:solidFill>
                  <a:srgbClr val="475569"/>
                </a:solidFill>
              </a:rPr>
              <a:t>Groq</a:t>
            </a:r>
            <a:r>
              <a:rPr sz="1050" b="0" i="0" dirty="0">
                <a:solidFill>
                  <a:srgbClr val="475569"/>
                </a:solidFill>
              </a:rPr>
              <a:t> LLM → score 0-100, skills[], summary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793C69-4C48-B5ED-E2D7-98DA8EA0CD6B}"/>
              </a:ext>
            </a:extLst>
          </p:cNvPr>
          <p:cNvSpPr txBox="1"/>
          <p:nvPr/>
        </p:nvSpPr>
        <p:spPr>
          <a:xfrm>
            <a:off x="6289548" y="3861942"/>
            <a:ext cx="20116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70C0"/>
                </a:solidFill>
              </a:rPr>
              <a:t>⬡  </a:t>
            </a:r>
            <a:r>
              <a:rPr sz="1050" b="1" i="0" dirty="0" err="1">
                <a:solidFill>
                  <a:srgbClr val="0070C0"/>
                </a:solidFill>
              </a:rPr>
              <a:t>thresholdGate</a:t>
            </a:r>
            <a:r>
              <a:rPr sz="1050" b="1" i="0" dirty="0">
                <a:solidFill>
                  <a:srgbClr val="0070C0"/>
                </a:solidFill>
              </a:rPr>
              <a:t>()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3D0962-14CD-558E-B59D-FB56748845E8}"/>
              </a:ext>
            </a:extLst>
          </p:cNvPr>
          <p:cNvSpPr txBox="1"/>
          <p:nvPr/>
        </p:nvSpPr>
        <p:spPr>
          <a:xfrm>
            <a:off x="6291072" y="4045666"/>
            <a:ext cx="5303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</a:rPr>
              <a:t>score ≥ </a:t>
            </a:r>
            <a:r>
              <a:rPr sz="1050" b="0" i="0" dirty="0" err="1">
                <a:solidFill>
                  <a:srgbClr val="475569"/>
                </a:solidFill>
              </a:rPr>
              <a:t>pass_threshold</a:t>
            </a:r>
            <a:r>
              <a:rPr sz="1050" b="0" i="0" dirty="0">
                <a:solidFill>
                  <a:srgbClr val="475569"/>
                </a:solidFill>
              </a:rPr>
              <a:t> (default 60) → Node 3  |  score &lt; threshold → Node 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B4CA1E-590B-D4EF-BF8B-C363CF9F0092}"/>
              </a:ext>
            </a:extLst>
          </p:cNvPr>
          <p:cNvSpPr/>
          <p:nvPr/>
        </p:nvSpPr>
        <p:spPr>
          <a:xfrm>
            <a:off x="6126480" y="4379976"/>
            <a:ext cx="5577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0A7BB0-9AE8-0EC4-E030-C1E4DFF4B8A7}"/>
              </a:ext>
            </a:extLst>
          </p:cNvPr>
          <p:cNvSpPr txBox="1"/>
          <p:nvPr/>
        </p:nvSpPr>
        <p:spPr>
          <a:xfrm>
            <a:off x="6291072" y="4434840"/>
            <a:ext cx="20116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70C0"/>
                </a:solidFill>
              </a:rPr>
              <a:t>Node 3  —  </a:t>
            </a:r>
            <a:r>
              <a:rPr sz="1050" b="1" i="0" dirty="0" err="1">
                <a:solidFill>
                  <a:srgbClr val="0070C0"/>
                </a:solidFill>
              </a:rPr>
              <a:t>send_invite</a:t>
            </a:r>
            <a:endParaRPr sz="1050" b="1" i="0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56D110-CC50-3AD7-4C6B-245E4BDC7E87}"/>
              </a:ext>
            </a:extLst>
          </p:cNvPr>
          <p:cNvSpPr txBox="1"/>
          <p:nvPr/>
        </p:nvSpPr>
        <p:spPr>
          <a:xfrm>
            <a:off x="6291072" y="4654296"/>
            <a:ext cx="5303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</a:rPr>
              <a:t>Random token + temp password  →  </a:t>
            </a:r>
            <a:r>
              <a:rPr sz="1050" b="0" i="0" dirty="0" err="1">
                <a:solidFill>
                  <a:srgbClr val="475569"/>
                </a:solidFill>
              </a:rPr>
              <a:t>bcrypt</a:t>
            </a:r>
            <a:r>
              <a:rPr sz="1050" b="0" i="0" dirty="0">
                <a:solidFill>
                  <a:srgbClr val="475569"/>
                </a:solidFill>
              </a:rPr>
              <a:t> hash  →  </a:t>
            </a:r>
            <a:r>
              <a:rPr sz="1050" b="0" i="0" dirty="0" err="1">
                <a:solidFill>
                  <a:srgbClr val="475569"/>
                </a:solidFill>
              </a:rPr>
              <a:t>sendInvitationEmail</a:t>
            </a:r>
            <a:r>
              <a:rPr sz="1050" b="0" i="0" dirty="0">
                <a:solidFill>
                  <a:srgbClr val="475569"/>
                </a:solidFill>
              </a:rPr>
              <a:t>()  →  status = </a:t>
            </a:r>
            <a:r>
              <a:rPr sz="1050" b="0" i="0" dirty="0" err="1">
                <a:solidFill>
                  <a:srgbClr val="475569"/>
                </a:solidFill>
              </a:rPr>
              <a:t>AwaitingVideo</a:t>
            </a:r>
            <a:endParaRPr sz="1050" b="0" i="0" dirty="0">
              <a:solidFill>
                <a:srgbClr val="475569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2891D19-BBB2-D457-258E-B7B9CA11E71D}"/>
              </a:ext>
            </a:extLst>
          </p:cNvPr>
          <p:cNvSpPr/>
          <p:nvPr/>
        </p:nvSpPr>
        <p:spPr>
          <a:xfrm>
            <a:off x="6126480" y="5129784"/>
            <a:ext cx="5577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8E6A6B-530D-E03E-2D08-638F919775D0}"/>
              </a:ext>
            </a:extLst>
          </p:cNvPr>
          <p:cNvSpPr txBox="1"/>
          <p:nvPr/>
        </p:nvSpPr>
        <p:spPr>
          <a:xfrm>
            <a:off x="6291072" y="5184648"/>
            <a:ext cx="20116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70C0"/>
                </a:solidFill>
              </a:rPr>
              <a:t>Node 4  —  </a:t>
            </a:r>
            <a:r>
              <a:rPr sz="1050" b="1" i="0" dirty="0" err="1">
                <a:solidFill>
                  <a:srgbClr val="0070C0"/>
                </a:solidFill>
              </a:rPr>
              <a:t>reject_candidate</a:t>
            </a:r>
            <a:endParaRPr sz="1050" b="1" i="0" dirty="0">
              <a:solidFill>
                <a:srgbClr val="0070C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BE8161-6AF8-67DC-75CC-0FD0BD319BE1}"/>
              </a:ext>
            </a:extLst>
          </p:cNvPr>
          <p:cNvSpPr txBox="1"/>
          <p:nvPr/>
        </p:nvSpPr>
        <p:spPr>
          <a:xfrm>
            <a:off x="6291072" y="5404104"/>
            <a:ext cx="5303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475569"/>
                </a:solidFill>
              </a:rPr>
              <a:t>UPDATE status = Rejected  →  </a:t>
            </a:r>
            <a:r>
              <a:rPr sz="1050" b="0" i="0" dirty="0" err="1">
                <a:solidFill>
                  <a:srgbClr val="475569"/>
                </a:solidFill>
              </a:rPr>
              <a:t>sendRejectionEmail</a:t>
            </a:r>
            <a:r>
              <a:rPr sz="1050" b="0" i="0" dirty="0">
                <a:solidFill>
                  <a:srgbClr val="475569"/>
                </a:solidFill>
              </a:rPr>
              <a:t>()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D33F2C-E6F4-AF40-1750-9195E6F17D6A}"/>
              </a:ext>
            </a:extLst>
          </p:cNvPr>
          <p:cNvSpPr/>
          <p:nvPr/>
        </p:nvSpPr>
        <p:spPr>
          <a:xfrm>
            <a:off x="409956" y="1197001"/>
            <a:ext cx="38100" cy="1554480"/>
          </a:xfrm>
          <a:prstGeom prst="rect">
            <a:avLst/>
          </a:prstGeom>
          <a:solidFill>
            <a:srgbClr val="0070C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242E653-2B02-47B9-4065-6C225E8301CC}"/>
              </a:ext>
            </a:extLst>
          </p:cNvPr>
          <p:cNvSpPr/>
          <p:nvPr/>
        </p:nvSpPr>
        <p:spPr>
          <a:xfrm>
            <a:off x="409956" y="2861209"/>
            <a:ext cx="38100" cy="135331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F292498-A9E1-3078-6EA3-DB2E5818DFDF}"/>
              </a:ext>
            </a:extLst>
          </p:cNvPr>
          <p:cNvSpPr/>
          <p:nvPr/>
        </p:nvSpPr>
        <p:spPr>
          <a:xfrm>
            <a:off x="409956" y="4324249"/>
            <a:ext cx="38100" cy="1353312"/>
          </a:xfrm>
          <a:prstGeom prst="rect">
            <a:avLst/>
          </a:prstGeom>
          <a:solidFill>
            <a:schemeClr val="accent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39A980-C856-93D7-606B-AD5782B474A2}"/>
              </a:ext>
            </a:extLst>
          </p:cNvPr>
          <p:cNvSpPr/>
          <p:nvPr/>
        </p:nvSpPr>
        <p:spPr>
          <a:xfrm>
            <a:off x="6126480" y="1783080"/>
            <a:ext cx="38100" cy="658368"/>
          </a:xfrm>
          <a:prstGeom prst="rect">
            <a:avLst/>
          </a:prstGeom>
          <a:solidFill>
            <a:srgbClr val="0070C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84FA00D-EFD7-2F37-70F5-4EFBA3765E9F}"/>
              </a:ext>
            </a:extLst>
          </p:cNvPr>
          <p:cNvSpPr/>
          <p:nvPr/>
        </p:nvSpPr>
        <p:spPr>
          <a:xfrm>
            <a:off x="6126480" y="2532888"/>
            <a:ext cx="38100" cy="45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56FB77-1BF2-9D5E-13FB-41D301BE3182}"/>
              </a:ext>
            </a:extLst>
          </p:cNvPr>
          <p:cNvSpPr/>
          <p:nvPr/>
        </p:nvSpPr>
        <p:spPr>
          <a:xfrm>
            <a:off x="6126480" y="3081528"/>
            <a:ext cx="38100" cy="658368"/>
          </a:xfrm>
          <a:prstGeom prst="rect">
            <a:avLst/>
          </a:prstGeom>
          <a:solidFill>
            <a:srgbClr val="0070C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93F2D6D-0EBE-1D65-5F35-39192D481DDF}"/>
              </a:ext>
            </a:extLst>
          </p:cNvPr>
          <p:cNvSpPr/>
          <p:nvPr/>
        </p:nvSpPr>
        <p:spPr>
          <a:xfrm>
            <a:off x="6126480" y="3831336"/>
            <a:ext cx="38100" cy="4572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1076467-6DD3-521A-C784-AA026ED549DD}"/>
              </a:ext>
            </a:extLst>
          </p:cNvPr>
          <p:cNvSpPr/>
          <p:nvPr/>
        </p:nvSpPr>
        <p:spPr>
          <a:xfrm>
            <a:off x="6126480" y="4379976"/>
            <a:ext cx="38100" cy="658368"/>
          </a:xfrm>
          <a:prstGeom prst="rect">
            <a:avLst/>
          </a:prstGeom>
          <a:solidFill>
            <a:srgbClr val="0070C0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B025134-D8BB-3758-B5DA-51D040779FCE}"/>
              </a:ext>
            </a:extLst>
          </p:cNvPr>
          <p:cNvSpPr/>
          <p:nvPr/>
        </p:nvSpPr>
        <p:spPr>
          <a:xfrm>
            <a:off x="6126480" y="5129784"/>
            <a:ext cx="38100" cy="6583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B9EF5BC-5E1F-B8D4-C208-36975CF895CA}"/>
              </a:ext>
            </a:extLst>
          </p:cNvPr>
          <p:cNvSpPr/>
          <p:nvPr/>
        </p:nvSpPr>
        <p:spPr>
          <a:xfrm>
            <a:off x="10762488" y="950837"/>
            <a:ext cx="1005840" cy="256032"/>
          </a:xfrm>
          <a:prstGeom prst="rect">
            <a:avLst/>
          </a:prstGeom>
          <a:solidFill>
            <a:srgbClr val="0070C0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345F12-BEC2-5255-DFF7-A7C99FAAE574}"/>
              </a:ext>
            </a:extLst>
          </p:cNvPr>
          <p:cNvSpPr txBox="1"/>
          <p:nvPr/>
        </p:nvSpPr>
        <p:spPr>
          <a:xfrm>
            <a:off x="10762488" y="981557"/>
            <a:ext cx="1005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</a:rPr>
              <a:t>PHASE </a:t>
            </a:r>
            <a:r>
              <a:rPr lang="en-US" sz="800" b="1" i="0" dirty="0">
                <a:solidFill>
                  <a:srgbClr val="FFFFFF"/>
                </a:solidFill>
              </a:rPr>
              <a:t>1</a:t>
            </a:r>
            <a:endParaRPr sz="800" b="1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83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4E055-976F-0007-3FD2-7D9154AA68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1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968E2-1CBB-BB5B-193B-D1847B234E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57FBA-0108-375A-F433-A3C218B2102D}"/>
              </a:ext>
            </a:extLst>
          </p:cNvPr>
          <p:cNvSpPr txBox="1"/>
          <p:nvPr/>
        </p:nvSpPr>
        <p:spPr>
          <a:xfrm>
            <a:off x="305375" y="328178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/>
              <a:t>LangGraph</a:t>
            </a:r>
            <a:r>
              <a:rPr sz="2800" b="1" i="0" dirty="0"/>
              <a:t> Pipeline — 4 Nodes + 2 Routers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F5EC0-6239-D7F5-4480-7CCB3C1DBC01}"/>
              </a:ext>
            </a:extLst>
          </p:cNvPr>
          <p:cNvSpPr txBox="1"/>
          <p:nvPr/>
        </p:nvSpPr>
        <p:spPr>
          <a:xfrm>
            <a:off x="411480" y="1051560"/>
            <a:ext cx="1133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/>
              <a:t>src</a:t>
            </a:r>
            <a:r>
              <a:rPr sz="1100" b="0" i="0" dirty="0"/>
              <a:t>/graph/index.js  ·  nodes.js  ·  helpers.js  —  stateful agent graph with conditional routing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BBF8-ECBD-BE3E-CAB3-6A1962144B04}"/>
              </a:ext>
            </a:extLst>
          </p:cNvPr>
          <p:cNvSpPr/>
          <p:nvPr/>
        </p:nvSpPr>
        <p:spPr>
          <a:xfrm>
            <a:off x="457200" y="1508760"/>
            <a:ext cx="1097280" cy="384048"/>
          </a:xfrm>
          <a:prstGeom prst="rect">
            <a:avLst/>
          </a:prstGeom>
          <a:solidFill>
            <a:srgbClr val="0070C0"/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Start</a:t>
            </a:r>
            <a:endParaRPr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C039AC-2C14-CBC8-D19D-39E32FD5FC2B}"/>
              </a:ext>
            </a:extLst>
          </p:cNvPr>
          <p:cNvSpPr/>
          <p:nvPr/>
        </p:nvSpPr>
        <p:spPr>
          <a:xfrm>
            <a:off x="1874519" y="1389888"/>
            <a:ext cx="1920240" cy="621792"/>
          </a:xfrm>
          <a:prstGeom prst="rect">
            <a:avLst/>
          </a:prstGeom>
          <a:solidFill>
            <a:schemeClr val="accent1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2EDD8E-8087-E19D-6FE4-E480CCE70A03}"/>
              </a:ext>
            </a:extLst>
          </p:cNvPr>
          <p:cNvSpPr txBox="1"/>
          <p:nvPr/>
        </p:nvSpPr>
        <p:spPr>
          <a:xfrm>
            <a:off x="1894891" y="1433322"/>
            <a:ext cx="18577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chemeClr val="bg1"/>
                </a:solidFill>
              </a:rPr>
              <a:t>Node 1
</a:t>
            </a:r>
            <a:r>
              <a:rPr sz="1000" b="1" i="0" dirty="0" err="1">
                <a:solidFill>
                  <a:schemeClr val="bg1"/>
                </a:solidFill>
              </a:rPr>
              <a:t>check_domain</a:t>
            </a:r>
            <a:r>
              <a:rPr sz="1000" b="1" i="0" dirty="0">
                <a:solidFill>
                  <a:schemeClr val="bg1"/>
                </a:solidFill>
              </a:rPr>
              <a:t>
_</a:t>
            </a:r>
            <a:r>
              <a:rPr sz="1000" b="1" i="0" dirty="0" err="1">
                <a:solidFill>
                  <a:schemeClr val="bg1"/>
                </a:solidFill>
              </a:rPr>
              <a:t>and_duplicate</a:t>
            </a:r>
            <a:endParaRPr sz="1000" b="1" i="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8EA75D-D26B-E13E-48DD-C5E66256C66E}"/>
              </a:ext>
            </a:extLst>
          </p:cNvPr>
          <p:cNvSpPr/>
          <p:nvPr/>
        </p:nvSpPr>
        <p:spPr>
          <a:xfrm>
            <a:off x="4114800" y="1389888"/>
            <a:ext cx="1920240" cy="621792"/>
          </a:xfrm>
          <a:prstGeom prst="rect">
            <a:avLst/>
          </a:prstGeom>
          <a:solidFill>
            <a:schemeClr val="accent1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7FAD5-8B44-F94E-A63F-1FCEB563E76C}"/>
              </a:ext>
            </a:extLst>
          </p:cNvPr>
          <p:cNvSpPr txBox="1"/>
          <p:nvPr/>
        </p:nvSpPr>
        <p:spPr>
          <a:xfrm>
            <a:off x="4158793" y="1483614"/>
            <a:ext cx="1835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chemeClr val="bg1"/>
                </a:solidFill>
              </a:rPr>
              <a:t>Node 2
</a:t>
            </a:r>
            <a:r>
              <a:rPr sz="1000" b="1" i="0" dirty="0" err="1">
                <a:solidFill>
                  <a:schemeClr val="bg1"/>
                </a:solidFill>
              </a:rPr>
              <a:t>analyze_resume</a:t>
            </a:r>
            <a:endParaRPr sz="1000" b="1" i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22E1BA-7600-3B3E-FBAE-4EB8486262A9}"/>
              </a:ext>
            </a:extLst>
          </p:cNvPr>
          <p:cNvSpPr/>
          <p:nvPr/>
        </p:nvSpPr>
        <p:spPr>
          <a:xfrm>
            <a:off x="6400800" y="1024128"/>
            <a:ext cx="1828800" cy="621792"/>
          </a:xfrm>
          <a:prstGeom prst="rect">
            <a:avLst/>
          </a:prstGeom>
          <a:solidFill>
            <a:schemeClr val="accent1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0FF13F-33E2-E95C-BACF-A11ABE85A738}"/>
              </a:ext>
            </a:extLst>
          </p:cNvPr>
          <p:cNvSpPr txBox="1"/>
          <p:nvPr/>
        </p:nvSpPr>
        <p:spPr>
          <a:xfrm>
            <a:off x="6444996" y="1133856"/>
            <a:ext cx="1754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chemeClr val="bg1"/>
                </a:solidFill>
              </a:rPr>
              <a:t>Node 3
</a:t>
            </a:r>
            <a:r>
              <a:rPr sz="1000" b="1" i="0" dirty="0" err="1">
                <a:solidFill>
                  <a:schemeClr val="bg1"/>
                </a:solidFill>
              </a:rPr>
              <a:t>send_invite</a:t>
            </a:r>
            <a:endParaRPr sz="1000" b="1" i="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3EC378-421B-7E4D-AEDA-C14CC7428C36}"/>
              </a:ext>
            </a:extLst>
          </p:cNvPr>
          <p:cNvSpPr/>
          <p:nvPr/>
        </p:nvSpPr>
        <p:spPr>
          <a:xfrm>
            <a:off x="6400800" y="1920240"/>
            <a:ext cx="1828800" cy="621792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CED32-7C99-4AA8-E267-89EDA98BA66F}"/>
              </a:ext>
            </a:extLst>
          </p:cNvPr>
          <p:cNvSpPr txBox="1"/>
          <p:nvPr/>
        </p:nvSpPr>
        <p:spPr>
          <a:xfrm>
            <a:off x="6328710" y="2042119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chemeClr val="bg1"/>
                </a:solidFill>
              </a:rPr>
              <a:t>Node 4
</a:t>
            </a:r>
            <a:r>
              <a:rPr sz="1000" b="1" i="0" dirty="0" err="1">
                <a:solidFill>
                  <a:schemeClr val="bg1"/>
                </a:solidFill>
              </a:rPr>
              <a:t>reject_candidate</a:t>
            </a:r>
            <a:endParaRPr sz="1000" b="1" i="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1D2F49-DA5B-753E-A04C-0BD6058BB21E}"/>
              </a:ext>
            </a:extLst>
          </p:cNvPr>
          <p:cNvSpPr/>
          <p:nvPr/>
        </p:nvSpPr>
        <p:spPr>
          <a:xfrm>
            <a:off x="8549640" y="1600702"/>
            <a:ext cx="914400" cy="359118"/>
          </a:xfrm>
          <a:prstGeom prst="rect">
            <a:avLst/>
          </a:prstGeom>
          <a:solidFill>
            <a:schemeClr val="accent1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68308A-02F1-3838-272C-E4EBFA3CA481}"/>
              </a:ext>
            </a:extLst>
          </p:cNvPr>
          <p:cNvSpPr txBox="1"/>
          <p:nvPr/>
        </p:nvSpPr>
        <p:spPr>
          <a:xfrm>
            <a:off x="8541558" y="1648416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006A05-5369-C324-F8EF-36DDC1D29F2D}"/>
              </a:ext>
            </a:extLst>
          </p:cNvPr>
          <p:cNvSpPr txBox="1"/>
          <p:nvPr/>
        </p:nvSpPr>
        <p:spPr>
          <a:xfrm>
            <a:off x="1572768" y="2148840"/>
            <a:ext cx="1463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F59E0B"/>
                </a:solidFill>
              </a:rPr>
              <a:t>domainGate</a:t>
            </a:r>
            <a:r>
              <a:rPr sz="1000" b="1" i="0" dirty="0">
                <a:solidFill>
                  <a:srgbClr val="F59E0B"/>
                </a:solidFill>
              </a:rPr>
              <a:t>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572345-0332-529B-276C-09CBC15A984C}"/>
              </a:ext>
            </a:extLst>
          </p:cNvPr>
          <p:cNvSpPr txBox="1"/>
          <p:nvPr/>
        </p:nvSpPr>
        <p:spPr>
          <a:xfrm>
            <a:off x="1572768" y="2350008"/>
            <a:ext cx="1463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Duplicate → END
New → Node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5D3108-C3D2-3BD9-5DFE-F9538A1986F4}"/>
              </a:ext>
            </a:extLst>
          </p:cNvPr>
          <p:cNvSpPr txBox="1"/>
          <p:nvPr/>
        </p:nvSpPr>
        <p:spPr>
          <a:xfrm>
            <a:off x="3840480" y="214884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F59E0B"/>
                </a:solidFill>
              </a:rPr>
              <a:t>thresholdGate</a:t>
            </a:r>
            <a:r>
              <a:rPr sz="1000" b="1" i="0" dirty="0">
                <a:solidFill>
                  <a:srgbClr val="F59E0B"/>
                </a:solidFill>
              </a:rPr>
              <a:t>()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CB0FE-FD59-879E-27C6-DEDAE0F2AEA8}"/>
              </a:ext>
            </a:extLst>
          </p:cNvPr>
          <p:cNvSpPr txBox="1"/>
          <p:nvPr/>
        </p:nvSpPr>
        <p:spPr>
          <a:xfrm>
            <a:off x="3840480" y="2350008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Score ≥ threshold → Node 3
Score &lt; threshold → Node 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C9D5CB-AB6C-F182-C6BA-019A43E93E43}"/>
              </a:ext>
            </a:extLst>
          </p:cNvPr>
          <p:cNvSpPr/>
          <p:nvPr/>
        </p:nvSpPr>
        <p:spPr>
          <a:xfrm>
            <a:off x="373524" y="2857500"/>
            <a:ext cx="2696140" cy="357640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E9551-A2A1-D44A-47AF-2F51BBA7852F}"/>
              </a:ext>
            </a:extLst>
          </p:cNvPr>
          <p:cNvSpPr txBox="1"/>
          <p:nvPr/>
        </p:nvSpPr>
        <p:spPr>
          <a:xfrm>
            <a:off x="510684" y="3223260"/>
            <a:ext cx="243522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bg1"/>
                </a:solidFill>
              </a:rPr>
              <a:t>• SHA-256 hash of resume buffer
• SELECT WHERE </a:t>
            </a:r>
            <a:r>
              <a:rPr sz="1100" b="0" i="0" dirty="0" err="1">
                <a:solidFill>
                  <a:schemeClr val="bg1"/>
                </a:solidFill>
              </a:rPr>
              <a:t>resume_hash</a:t>
            </a:r>
            <a:r>
              <a:rPr sz="1100" b="0" i="0" dirty="0">
                <a:solidFill>
                  <a:schemeClr val="bg1"/>
                </a:solidFill>
              </a:rPr>
              <a:t>=$1 AND </a:t>
            </a:r>
            <a:r>
              <a:rPr sz="1100" b="0" i="0" dirty="0" err="1">
                <a:solidFill>
                  <a:schemeClr val="bg1"/>
                </a:solidFill>
              </a:rPr>
              <a:t>interview_id</a:t>
            </a:r>
            <a:r>
              <a:rPr sz="1100" b="0" i="0" dirty="0">
                <a:solidFill>
                  <a:schemeClr val="bg1"/>
                </a:solidFill>
              </a:rPr>
              <a:t>=$2
• If duplicate found → status=Rejected, return END
• If new → INSERT candidates row:
  </a:t>
            </a:r>
            <a:r>
              <a:rPr sz="1100" b="0" i="0" dirty="0" err="1">
                <a:solidFill>
                  <a:schemeClr val="bg1"/>
                </a:solidFill>
              </a:rPr>
              <a:t>thread_id</a:t>
            </a:r>
            <a:r>
              <a:rPr sz="1100" b="0" i="0" dirty="0">
                <a:solidFill>
                  <a:schemeClr val="bg1"/>
                </a:solidFill>
              </a:rPr>
              <a:t> (UUID), </a:t>
            </a:r>
            <a:r>
              <a:rPr sz="1100" b="0" i="0" dirty="0" err="1">
                <a:solidFill>
                  <a:schemeClr val="bg1"/>
                </a:solidFill>
              </a:rPr>
              <a:t>interview_id</a:t>
            </a:r>
            <a:r>
              <a:rPr sz="1100" b="0" i="0" dirty="0">
                <a:solidFill>
                  <a:schemeClr val="bg1"/>
                </a:solidFill>
              </a:rPr>
              <a:t>, email,
  </a:t>
            </a:r>
            <a:r>
              <a:rPr sz="1100" b="0" i="0" dirty="0" err="1">
                <a:solidFill>
                  <a:schemeClr val="bg1"/>
                </a:solidFill>
              </a:rPr>
              <a:t>resume_hash</a:t>
            </a:r>
            <a:r>
              <a:rPr sz="1100" b="0" i="0" dirty="0">
                <a:solidFill>
                  <a:schemeClr val="bg1"/>
                </a:solidFill>
              </a:rPr>
              <a:t>, status='Screening',
  </a:t>
            </a:r>
            <a:r>
              <a:rPr sz="1100" b="0" i="0" dirty="0" err="1">
                <a:solidFill>
                  <a:schemeClr val="bg1"/>
                </a:solidFill>
              </a:rPr>
              <a:t>assignment_method</a:t>
            </a:r>
            <a:r>
              <a:rPr sz="1100" b="0" i="0" dirty="0">
                <a:solidFill>
                  <a:schemeClr val="bg1"/>
                </a:solidFill>
              </a:rPr>
              <a:t>, </a:t>
            </a:r>
            <a:r>
              <a:rPr sz="1100" b="0" i="0" dirty="0" err="1">
                <a:solidFill>
                  <a:schemeClr val="bg1"/>
                </a:solidFill>
              </a:rPr>
              <a:t>match_confidence</a:t>
            </a:r>
            <a:r>
              <a:rPr sz="1100" b="0" i="0" dirty="0">
                <a:solidFill>
                  <a:schemeClr val="bg1"/>
                </a:solidFill>
              </a:rPr>
              <a:t>
• Returns { </a:t>
            </a:r>
            <a:r>
              <a:rPr sz="1100" b="0" i="0" dirty="0" err="1">
                <a:solidFill>
                  <a:schemeClr val="bg1"/>
                </a:solidFill>
              </a:rPr>
              <a:t>resumeHash</a:t>
            </a:r>
            <a:r>
              <a:rPr sz="1100" b="0" i="0" dirty="0">
                <a:solidFill>
                  <a:schemeClr val="bg1"/>
                </a:solidFill>
              </a:rPr>
              <a:t>, status: 'Screening' }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14CEB2-3989-60C2-BD7E-72D271FA0B3A}"/>
              </a:ext>
            </a:extLst>
          </p:cNvPr>
          <p:cNvSpPr/>
          <p:nvPr/>
        </p:nvSpPr>
        <p:spPr>
          <a:xfrm>
            <a:off x="3345324" y="2857500"/>
            <a:ext cx="2739626" cy="357640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A5380-C3FD-24F3-57F8-EED8780AB5BD}"/>
              </a:ext>
            </a:extLst>
          </p:cNvPr>
          <p:cNvSpPr txBox="1"/>
          <p:nvPr/>
        </p:nvSpPr>
        <p:spPr>
          <a:xfrm>
            <a:off x="3482484" y="3223260"/>
            <a:ext cx="247870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chemeClr val="bg1"/>
                </a:solidFill>
              </a:rPr>
              <a:t>• Magic bytes detect PDF / DOCX / DOC
• PDF: 3-strategy cascade (pdf-parse → </a:t>
            </a:r>
            <a:r>
              <a:rPr sz="1100" b="0" i="0" dirty="0" err="1">
                <a:solidFill>
                  <a:schemeClr val="bg1"/>
                </a:solidFill>
              </a:rPr>
              <a:t>pdfjs-dist</a:t>
            </a:r>
            <a:r>
              <a:rPr sz="1100" b="0" i="0" dirty="0">
                <a:solidFill>
                  <a:schemeClr val="bg1"/>
                </a:solidFill>
              </a:rPr>
              <a:t> → BT/ET regex)
• DOCX: </a:t>
            </a:r>
            <a:r>
              <a:rPr sz="1100" b="0" i="0" dirty="0" err="1">
                <a:solidFill>
                  <a:schemeClr val="bg1"/>
                </a:solidFill>
              </a:rPr>
              <a:t>mammoth.extractRawText</a:t>
            </a:r>
            <a:r>
              <a:rPr sz="1100" b="0" i="0" dirty="0">
                <a:solidFill>
                  <a:schemeClr val="bg1"/>
                </a:solidFill>
              </a:rPr>
              <a:t>()
• DOC: word-extractor
• RAG: </a:t>
            </a:r>
            <a:r>
              <a:rPr sz="1100" b="0" i="0" dirty="0" err="1">
                <a:solidFill>
                  <a:schemeClr val="bg1"/>
                </a:solidFill>
              </a:rPr>
              <a:t>retrieveRelevantChunks</a:t>
            </a:r>
            <a:r>
              <a:rPr sz="1100" b="0" i="0" dirty="0">
                <a:solidFill>
                  <a:schemeClr val="bg1"/>
                </a:solidFill>
              </a:rPr>
              <a:t>() → </a:t>
            </a:r>
            <a:r>
              <a:rPr sz="1100" b="0" i="0" dirty="0" err="1">
                <a:solidFill>
                  <a:schemeClr val="bg1"/>
                </a:solidFill>
              </a:rPr>
              <a:t>pgvector</a:t>
            </a:r>
            <a:r>
              <a:rPr sz="1100" b="0" i="0" dirty="0">
                <a:solidFill>
                  <a:schemeClr val="bg1"/>
                </a:solidFill>
              </a:rPr>
              <a:t> cosine
• Groq llama-3.3-70b → { score, matching[], missing[], summary }
• UPDATE candidates SET </a:t>
            </a:r>
            <a:r>
              <a:rPr sz="1100" b="0" i="0" dirty="0" err="1">
                <a:solidFill>
                  <a:schemeClr val="bg1"/>
                </a:solidFill>
              </a:rPr>
              <a:t>resume_score</a:t>
            </a:r>
            <a:r>
              <a:rPr sz="1100" b="0" i="0" dirty="0">
                <a:solidFill>
                  <a:schemeClr val="bg1"/>
                </a:solidFill>
              </a:rPr>
              <a:t>, summary, status='Screened'
• Returns { </a:t>
            </a:r>
            <a:r>
              <a:rPr sz="1100" b="0" i="0" dirty="0" err="1">
                <a:solidFill>
                  <a:schemeClr val="bg1"/>
                </a:solidFill>
              </a:rPr>
              <a:t>resumeScore</a:t>
            </a:r>
            <a:r>
              <a:rPr sz="1100" b="0" i="0" dirty="0">
                <a:solidFill>
                  <a:schemeClr val="bg1"/>
                </a:solidFill>
              </a:rPr>
              <a:t> }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3B098-718F-2CD9-1F04-9233276E8CB7}"/>
              </a:ext>
            </a:extLst>
          </p:cNvPr>
          <p:cNvSpPr/>
          <p:nvPr/>
        </p:nvSpPr>
        <p:spPr>
          <a:xfrm>
            <a:off x="6206056" y="2857500"/>
            <a:ext cx="2792702" cy="194264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/>
          </a:p>
          <a:p>
            <a:pPr algn="ctr"/>
            <a:endParaRPr lang="en-IN" sz="1000" dirty="0"/>
          </a:p>
          <a:p>
            <a:pPr algn="ctr"/>
            <a:r>
              <a:rPr lang="en-IN" sz="1000" dirty="0"/>
              <a:t>• </a:t>
            </a:r>
            <a:r>
              <a:rPr lang="en-IN" sz="1000" dirty="0" err="1"/>
              <a:t>crypto.randomBytes</a:t>
            </a:r>
            <a:r>
              <a:rPr lang="en-IN" sz="1000" dirty="0"/>
              <a:t>(4).</a:t>
            </a:r>
            <a:r>
              <a:rPr lang="en-IN" sz="1000" dirty="0" err="1"/>
              <a:t>toString</a:t>
            </a:r>
            <a:r>
              <a:rPr lang="en-IN" sz="1000" dirty="0"/>
              <a:t>('hex') → 8-char token
• </a:t>
            </a:r>
            <a:r>
              <a:rPr lang="en-IN" sz="1000" dirty="0" err="1"/>
              <a:t>crypto.randomBytes</a:t>
            </a:r>
            <a:r>
              <a:rPr lang="en-IN" sz="1000" dirty="0"/>
              <a:t>(6).</a:t>
            </a:r>
            <a:r>
              <a:rPr lang="en-IN" sz="1000" dirty="0" err="1"/>
              <a:t>toString</a:t>
            </a:r>
            <a:r>
              <a:rPr lang="en-IN" sz="1000" dirty="0"/>
              <a:t>('base64url') → temp password
• </a:t>
            </a:r>
            <a:r>
              <a:rPr lang="en-IN" sz="1000" dirty="0" err="1"/>
              <a:t>bcrypt.hash</a:t>
            </a:r>
            <a:r>
              <a:rPr lang="en-IN" sz="1000" dirty="0"/>
              <a:t>(password, 10) → </a:t>
            </a:r>
            <a:r>
              <a:rPr lang="en-IN" sz="1000" dirty="0" err="1"/>
              <a:t>password_hash</a:t>
            </a:r>
            <a:r>
              <a:rPr lang="en-IN" sz="1000" dirty="0"/>
              <a:t>
• UPDATE: </a:t>
            </a:r>
            <a:r>
              <a:rPr lang="en-IN" sz="1000" dirty="0" err="1"/>
              <a:t>login_token</a:t>
            </a:r>
            <a:r>
              <a:rPr lang="en-IN" sz="1000" dirty="0"/>
              <a:t>, </a:t>
            </a:r>
            <a:r>
              <a:rPr lang="en-IN" sz="1000" dirty="0" err="1"/>
              <a:t>password_hash</a:t>
            </a:r>
            <a:r>
              <a:rPr lang="en-IN" sz="1000" dirty="0"/>
              <a:t>, </a:t>
            </a:r>
            <a:r>
              <a:rPr lang="en-IN" sz="1000" dirty="0" err="1"/>
              <a:t>must_change_password</a:t>
            </a:r>
            <a:r>
              <a:rPr lang="en-IN" sz="1000" dirty="0"/>
              <a:t>=TRUE
• </a:t>
            </a:r>
            <a:r>
              <a:rPr lang="en-IN" sz="1000" dirty="0" err="1"/>
              <a:t>sendInvitationEmail</a:t>
            </a:r>
            <a:r>
              <a:rPr lang="en-IN" sz="1000" dirty="0"/>
              <a:t>(email, </a:t>
            </a:r>
            <a:r>
              <a:rPr lang="en-IN" sz="1000" dirty="0" err="1"/>
              <a:t>threadId</a:t>
            </a:r>
            <a:r>
              <a:rPr lang="en-IN" sz="1000" dirty="0"/>
              <a:t>, </a:t>
            </a:r>
            <a:r>
              <a:rPr lang="en-IN" sz="1000" dirty="0" err="1"/>
              <a:t>plainPassword</a:t>
            </a:r>
            <a:r>
              <a:rPr lang="en-IN" sz="1000" dirty="0"/>
              <a:t>)
• Status → </a:t>
            </a:r>
            <a:r>
              <a:rPr lang="en-IN" sz="1000" dirty="0" err="1"/>
              <a:t>AwaitingVideo</a:t>
            </a:r>
            <a:endParaRPr lang="en-I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DF4BAC-FAC5-6DBB-CC69-29B659804155}"/>
              </a:ext>
            </a:extLst>
          </p:cNvPr>
          <p:cNvSpPr/>
          <p:nvPr/>
        </p:nvSpPr>
        <p:spPr>
          <a:xfrm>
            <a:off x="6206056" y="4914899"/>
            <a:ext cx="2792702" cy="151900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/>
          </a:p>
          <a:p>
            <a:r>
              <a:rPr lang="en-US" sz="1000" dirty="0"/>
              <a:t>• UPDATE candidates SET status='Rejected'
• </a:t>
            </a:r>
            <a:r>
              <a:rPr lang="en-US" sz="1000" dirty="0" err="1"/>
              <a:t>sendRejectionEmail</a:t>
            </a:r>
            <a:r>
              <a:rPr lang="en-US" sz="1000" dirty="0"/>
              <a:t>(email)
  (bulk rejection emails also sent by
   </a:t>
            </a:r>
            <a:r>
              <a:rPr lang="en-US" sz="1000" dirty="0" err="1"/>
              <a:t>BulkOutcomeEmailWorker</a:t>
            </a:r>
            <a:r>
              <a:rPr lang="en-US" sz="1000" dirty="0"/>
              <a:t> at 18:00)
• No invitation link is generated
• Candidate is not notified of score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15CEAA-BA7E-4AA2-085D-4E28BC3D886D}"/>
              </a:ext>
            </a:extLst>
          </p:cNvPr>
          <p:cNvSpPr txBox="1"/>
          <p:nvPr/>
        </p:nvSpPr>
        <p:spPr>
          <a:xfrm>
            <a:off x="6204532" y="4989112"/>
            <a:ext cx="2285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bg1"/>
                </a:solidFill>
              </a:rPr>
              <a:t>Node 4 — </a:t>
            </a:r>
            <a:r>
              <a:rPr sz="1100" b="1" i="0" dirty="0" err="1">
                <a:solidFill>
                  <a:schemeClr val="bg1"/>
                </a:solidFill>
              </a:rPr>
              <a:t>reject_candidate</a:t>
            </a:r>
            <a:endParaRPr sz="1100" b="1" i="0" dirty="0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41E828-593A-06F8-6878-6E816C17CD92}"/>
              </a:ext>
            </a:extLst>
          </p:cNvPr>
          <p:cNvSpPr/>
          <p:nvPr/>
        </p:nvSpPr>
        <p:spPr>
          <a:xfrm>
            <a:off x="9197484" y="2857500"/>
            <a:ext cx="2670048" cy="357640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07E76D-EF7B-9DCE-8F16-638FE9528B1B}"/>
              </a:ext>
            </a:extLst>
          </p:cNvPr>
          <p:cNvSpPr txBox="1"/>
          <p:nvPr/>
        </p:nvSpPr>
        <p:spPr>
          <a:xfrm>
            <a:off x="9334644" y="3223260"/>
            <a:ext cx="240913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chemeClr val="bg1"/>
                </a:solidFill>
              </a:rPr>
              <a:t>callWithRetry</a:t>
            </a:r>
            <a:r>
              <a:rPr sz="1000" b="0" i="0" dirty="0">
                <a:solidFill>
                  <a:schemeClr val="bg1"/>
                </a:solidFill>
              </a:rPr>
              <a:t>(</a:t>
            </a:r>
            <a:r>
              <a:rPr sz="1000" b="0" i="0" dirty="0" err="1">
                <a:solidFill>
                  <a:schemeClr val="bg1"/>
                </a:solidFill>
              </a:rPr>
              <a:t>fn</a:t>
            </a:r>
            <a:r>
              <a:rPr sz="1000" b="0" i="0" dirty="0">
                <a:solidFill>
                  <a:schemeClr val="bg1"/>
                </a:solidFill>
              </a:rPr>
              <a:t>, </a:t>
            </a:r>
            <a:r>
              <a:rPr sz="1000" b="0" i="0" dirty="0" err="1">
                <a:solidFill>
                  <a:schemeClr val="bg1"/>
                </a:solidFill>
              </a:rPr>
              <a:t>maxRetries</a:t>
            </a:r>
            <a:r>
              <a:rPr sz="1000" b="0" i="0" dirty="0">
                <a:solidFill>
                  <a:schemeClr val="bg1"/>
                </a:solidFill>
              </a:rPr>
              <a:t>=3):
• Catches HTTP 429 rate-limit errors
• Backoff: 2s → 4s → 8s (max 15s cap)
• Wraps ALL </a:t>
            </a:r>
            <a:r>
              <a:rPr sz="1000" b="0" i="0" dirty="0" err="1">
                <a:solidFill>
                  <a:schemeClr val="bg1"/>
                </a:solidFill>
              </a:rPr>
              <a:t>Groq</a:t>
            </a:r>
            <a:r>
              <a:rPr sz="1000" b="0" i="0" dirty="0">
                <a:solidFill>
                  <a:schemeClr val="bg1"/>
                </a:solidFill>
              </a:rPr>
              <a:t> + Gemini calls
</a:t>
            </a:r>
            <a:r>
              <a:rPr sz="1000" b="0" i="0" dirty="0" err="1">
                <a:solidFill>
                  <a:schemeClr val="bg1"/>
                </a:solidFill>
              </a:rPr>
              <a:t>parseJSON</a:t>
            </a:r>
            <a:r>
              <a:rPr sz="1000" b="0" i="0" dirty="0">
                <a:solidFill>
                  <a:schemeClr val="bg1"/>
                </a:solidFill>
              </a:rPr>
              <a:t>(raw):
• Strips markdown code fences (```</a:t>
            </a:r>
            <a:r>
              <a:rPr sz="1000" b="0" i="0" dirty="0" err="1">
                <a:solidFill>
                  <a:schemeClr val="bg1"/>
                </a:solidFill>
              </a:rPr>
              <a:t>json</a:t>
            </a:r>
            <a:r>
              <a:rPr sz="1000" b="0" i="0" dirty="0">
                <a:solidFill>
                  <a:schemeClr val="bg1"/>
                </a:solidFill>
              </a:rPr>
              <a:t>)
• Falls back to raw </a:t>
            </a:r>
            <a:r>
              <a:rPr sz="1000" b="0" i="0" dirty="0" err="1">
                <a:solidFill>
                  <a:schemeClr val="bg1"/>
                </a:solidFill>
              </a:rPr>
              <a:t>JSON.parse</a:t>
            </a:r>
            <a:r>
              <a:rPr sz="1000" b="0" i="0" dirty="0">
                <a:solidFill>
                  <a:schemeClr val="bg1"/>
                </a:solidFill>
              </a:rPr>
              <a:t>()
• Score clamped 0–100 downstream
</a:t>
            </a:r>
            <a:r>
              <a:rPr sz="1000" b="0" i="0" dirty="0" err="1">
                <a:solidFill>
                  <a:schemeClr val="bg1"/>
                </a:solidFill>
              </a:rPr>
              <a:t>pass_threshold</a:t>
            </a:r>
            <a:r>
              <a:rPr sz="1000" b="0" i="0" dirty="0">
                <a:solidFill>
                  <a:schemeClr val="bg1"/>
                </a:solidFill>
              </a:rPr>
              <a:t>:
• Read from </a:t>
            </a:r>
            <a:r>
              <a:rPr sz="1000" b="0" i="0" dirty="0" err="1">
                <a:solidFill>
                  <a:schemeClr val="bg1"/>
                </a:solidFill>
              </a:rPr>
              <a:t>interviews.pass_threshold</a:t>
            </a:r>
            <a:r>
              <a:rPr sz="1000" b="0" i="0" dirty="0">
                <a:solidFill>
                  <a:schemeClr val="bg1"/>
                </a:solidFill>
              </a:rPr>
              <a:t>
• Default = 60 if not set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94FEAF-3E9D-67F4-530F-34F168FD509B}"/>
              </a:ext>
            </a:extLst>
          </p:cNvPr>
          <p:cNvSpPr/>
          <p:nvPr/>
        </p:nvSpPr>
        <p:spPr>
          <a:xfrm>
            <a:off x="10762488" y="950837"/>
            <a:ext cx="1005840" cy="256032"/>
          </a:xfrm>
          <a:prstGeom prst="rect">
            <a:avLst/>
          </a:prstGeom>
          <a:solidFill>
            <a:srgbClr val="0070C0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B66294-DA70-C1C1-5336-1DA5FD79DB04}"/>
              </a:ext>
            </a:extLst>
          </p:cNvPr>
          <p:cNvSpPr txBox="1"/>
          <p:nvPr/>
        </p:nvSpPr>
        <p:spPr>
          <a:xfrm>
            <a:off x="10762488" y="985371"/>
            <a:ext cx="1005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</a:rPr>
              <a:t>PHASE </a:t>
            </a:r>
            <a:r>
              <a:rPr lang="en-US" sz="800" b="1" i="0" dirty="0">
                <a:solidFill>
                  <a:srgbClr val="FFFFFF"/>
                </a:solidFill>
              </a:rPr>
              <a:t>2</a:t>
            </a:r>
            <a:endParaRPr sz="800" b="1" i="0" dirty="0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993DE3-DCE8-AE17-4917-1854ED53E046}"/>
              </a:ext>
            </a:extLst>
          </p:cNvPr>
          <p:cNvSpPr/>
          <p:nvPr/>
        </p:nvSpPr>
        <p:spPr>
          <a:xfrm>
            <a:off x="373524" y="2846463"/>
            <a:ext cx="2696140" cy="310896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>
                <a:solidFill>
                  <a:schemeClr val="bg1"/>
                </a:solidFill>
              </a:rPr>
              <a:t>Node 1 — check_domain_and_duplicate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518854-8359-8C0F-C5D6-AF54C9DED3E6}"/>
              </a:ext>
            </a:extLst>
          </p:cNvPr>
          <p:cNvSpPr/>
          <p:nvPr/>
        </p:nvSpPr>
        <p:spPr>
          <a:xfrm>
            <a:off x="3343800" y="2860959"/>
            <a:ext cx="2736960" cy="310896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Node 2 — </a:t>
            </a:r>
            <a:r>
              <a:rPr lang="en-IN" sz="1100" b="1" dirty="0" err="1">
                <a:solidFill>
                  <a:schemeClr val="bg1"/>
                </a:solidFill>
              </a:rPr>
              <a:t>analyze_resume</a:t>
            </a:r>
            <a:endParaRPr lang="en-IN" sz="1100" b="1" dirty="0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25CFE3-6913-F17D-73CA-69AA75F869CC}"/>
              </a:ext>
            </a:extLst>
          </p:cNvPr>
          <p:cNvSpPr/>
          <p:nvPr/>
        </p:nvSpPr>
        <p:spPr>
          <a:xfrm>
            <a:off x="6201866" y="2857911"/>
            <a:ext cx="2796892" cy="310896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Node 3 — </a:t>
            </a:r>
            <a:r>
              <a:rPr lang="en-IN" sz="1100" b="1" dirty="0" err="1">
                <a:solidFill>
                  <a:schemeClr val="bg1"/>
                </a:solidFill>
              </a:rPr>
              <a:t>send_invite</a:t>
            </a:r>
            <a:endParaRPr lang="en-IN" sz="1100" b="1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C684A3-2167-60FB-CF09-A0A7D680BB6E}"/>
              </a:ext>
            </a:extLst>
          </p:cNvPr>
          <p:cNvSpPr/>
          <p:nvPr/>
        </p:nvSpPr>
        <p:spPr>
          <a:xfrm>
            <a:off x="9204185" y="2860959"/>
            <a:ext cx="2670048" cy="310896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Helpers &amp; Retry Logic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298830-6983-9C09-7ECE-40EF5A390118}"/>
              </a:ext>
            </a:extLst>
          </p:cNvPr>
          <p:cNvSpPr/>
          <p:nvPr/>
        </p:nvSpPr>
        <p:spPr>
          <a:xfrm flipV="1">
            <a:off x="1529132" y="1645919"/>
            <a:ext cx="345388" cy="4571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AAFC60B-EAD2-B36B-29AC-FE55272F0A15}"/>
              </a:ext>
            </a:extLst>
          </p:cNvPr>
          <p:cNvSpPr/>
          <p:nvPr/>
        </p:nvSpPr>
        <p:spPr>
          <a:xfrm flipV="1">
            <a:off x="3794759" y="1645918"/>
            <a:ext cx="345388" cy="4571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68ADDB-A9A0-131F-49AD-6EBECAA3C189}"/>
              </a:ext>
            </a:extLst>
          </p:cNvPr>
          <p:cNvSpPr/>
          <p:nvPr/>
        </p:nvSpPr>
        <p:spPr>
          <a:xfrm flipV="1">
            <a:off x="6035040" y="1767796"/>
            <a:ext cx="832350" cy="5122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215C25-B125-FD2C-FE66-B937EE626A10}"/>
              </a:ext>
            </a:extLst>
          </p:cNvPr>
          <p:cNvSpPr/>
          <p:nvPr/>
        </p:nvSpPr>
        <p:spPr>
          <a:xfrm rot="5400000" flipV="1">
            <a:off x="6757977" y="1709613"/>
            <a:ext cx="173106" cy="4571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2644CC-95D9-79C0-5319-2E12D1F36E09}"/>
              </a:ext>
            </a:extLst>
          </p:cNvPr>
          <p:cNvSpPr/>
          <p:nvPr/>
        </p:nvSpPr>
        <p:spPr>
          <a:xfrm rot="5400000" flipV="1">
            <a:off x="6773824" y="1826672"/>
            <a:ext cx="141418" cy="45721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72E9AA-FB5A-294D-BF24-5010EE50A081}"/>
              </a:ext>
            </a:extLst>
          </p:cNvPr>
          <p:cNvSpPr/>
          <p:nvPr/>
        </p:nvSpPr>
        <p:spPr>
          <a:xfrm flipV="1">
            <a:off x="8229600" y="1600702"/>
            <a:ext cx="320040" cy="4571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443485-A9D9-AC98-DD53-F512D021C77B}"/>
              </a:ext>
            </a:extLst>
          </p:cNvPr>
          <p:cNvSpPr/>
          <p:nvPr/>
        </p:nvSpPr>
        <p:spPr>
          <a:xfrm flipV="1">
            <a:off x="8234431" y="1919739"/>
            <a:ext cx="320040" cy="4571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7935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1C175-98C8-1B4F-B3CF-13286942EA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F5FBFE-714A-A61C-7306-4CF0782C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2FA31-491D-F92B-F0B5-5A6FEE4E35B9}"/>
              </a:ext>
            </a:extLst>
          </p:cNvPr>
          <p:cNvSpPr/>
          <p:nvPr/>
        </p:nvSpPr>
        <p:spPr>
          <a:xfrm>
            <a:off x="10762488" y="950837"/>
            <a:ext cx="1005840" cy="256032"/>
          </a:xfrm>
          <a:prstGeom prst="rect">
            <a:avLst/>
          </a:prstGeom>
          <a:solidFill>
            <a:srgbClr val="0070C0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DD5D7-36EC-4C10-D18A-E87044D7FCEB}"/>
              </a:ext>
            </a:extLst>
          </p:cNvPr>
          <p:cNvSpPr txBox="1"/>
          <p:nvPr/>
        </p:nvSpPr>
        <p:spPr>
          <a:xfrm>
            <a:off x="10760964" y="985557"/>
            <a:ext cx="1005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dirty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1A6E9-E481-CFC2-7DB2-DB0C0331E96B}"/>
              </a:ext>
            </a:extLst>
          </p:cNvPr>
          <p:cNvSpPr txBox="1"/>
          <p:nvPr/>
        </p:nvSpPr>
        <p:spPr>
          <a:xfrm>
            <a:off x="338328" y="33911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Candidate Portal &amp; Video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043A8-5AFD-6631-F06B-C3F0B289FBB8}"/>
              </a:ext>
            </a:extLst>
          </p:cNvPr>
          <p:cNvSpPr txBox="1"/>
          <p:nvPr/>
        </p:nvSpPr>
        <p:spPr>
          <a:xfrm>
            <a:off x="411480" y="1051560"/>
            <a:ext cx="64033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/>
              <a:t>src</a:t>
            </a:r>
            <a:r>
              <a:rPr sz="1100" b="0" i="0" dirty="0"/>
              <a:t>/routes/candidate.js  ·  </a:t>
            </a:r>
            <a:r>
              <a:rPr sz="1100" b="0" i="0" dirty="0" err="1"/>
              <a:t>src</a:t>
            </a:r>
            <a:r>
              <a:rPr sz="1100" b="0" i="0" dirty="0"/>
              <a:t>/graph/actions.js  ·  </a:t>
            </a:r>
            <a:r>
              <a:rPr sz="1100" b="0" i="0" dirty="0" err="1"/>
              <a:t>src</a:t>
            </a:r>
            <a:r>
              <a:rPr sz="1100" b="0" i="0" dirty="0"/>
              <a:t>/services/video-analysis.js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57145-CEFE-EBE3-A873-2AA0FF46C933}"/>
              </a:ext>
            </a:extLst>
          </p:cNvPr>
          <p:cNvSpPr/>
          <p:nvPr/>
        </p:nvSpPr>
        <p:spPr>
          <a:xfrm>
            <a:off x="411480" y="1389887"/>
            <a:ext cx="11356848" cy="45719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6A461-7450-3EB9-FCB0-FBB33CC0B6D6}"/>
              </a:ext>
            </a:extLst>
          </p:cNvPr>
          <p:cNvSpPr/>
          <p:nvPr/>
        </p:nvSpPr>
        <p:spPr>
          <a:xfrm>
            <a:off x="411480" y="1572768"/>
            <a:ext cx="5394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B89E15-F6A6-18B5-8153-1871279A3B45}"/>
              </a:ext>
            </a:extLst>
          </p:cNvPr>
          <p:cNvSpPr/>
          <p:nvPr/>
        </p:nvSpPr>
        <p:spPr>
          <a:xfrm>
            <a:off x="411480" y="1572768"/>
            <a:ext cx="38100" cy="5029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EFC186-EAD7-EB14-F60E-532C451847B0}"/>
              </a:ext>
            </a:extLst>
          </p:cNvPr>
          <p:cNvSpPr txBox="1"/>
          <p:nvPr/>
        </p:nvSpPr>
        <p:spPr>
          <a:xfrm>
            <a:off x="576072" y="1622430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6366F1"/>
                </a:solidFill>
              </a:rPr>
              <a:t>Login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9485CE-921C-E19C-3207-9BC0A82A8F33}"/>
              </a:ext>
            </a:extLst>
          </p:cNvPr>
          <p:cNvSpPr txBox="1"/>
          <p:nvPr/>
        </p:nvSpPr>
        <p:spPr>
          <a:xfrm>
            <a:off x="576072" y="1834376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Candidate visits /login/candidate  ·  </a:t>
            </a:r>
            <a:r>
              <a:rPr sz="1000" b="0" i="0" dirty="0" err="1">
                <a:solidFill>
                  <a:srgbClr val="475569"/>
                </a:solidFill>
              </a:rPr>
              <a:t>must_change_password</a:t>
            </a:r>
            <a:r>
              <a:rPr sz="1000" b="0" i="0" dirty="0">
                <a:solidFill>
                  <a:srgbClr val="475569"/>
                </a:solidFill>
              </a:rPr>
              <a:t> redirect first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4A262F-EAFF-752F-2B77-EE956E0CB59A}"/>
              </a:ext>
            </a:extLst>
          </p:cNvPr>
          <p:cNvSpPr/>
          <p:nvPr/>
        </p:nvSpPr>
        <p:spPr>
          <a:xfrm>
            <a:off x="411480" y="2167128"/>
            <a:ext cx="5394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C39319-AEF2-2E10-1D17-2FBAB689FBE9}"/>
              </a:ext>
            </a:extLst>
          </p:cNvPr>
          <p:cNvSpPr/>
          <p:nvPr/>
        </p:nvSpPr>
        <p:spPr>
          <a:xfrm>
            <a:off x="411480" y="2167128"/>
            <a:ext cx="38100" cy="5029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B683E3-F0AE-D4F3-0A0E-CAB2D6264AD0}"/>
              </a:ext>
            </a:extLst>
          </p:cNvPr>
          <p:cNvSpPr txBox="1"/>
          <p:nvPr/>
        </p:nvSpPr>
        <p:spPr>
          <a:xfrm>
            <a:off x="576072" y="2206784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3B82F6"/>
                </a:solidFill>
              </a:rPr>
              <a:t>Record &amp; Upload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0D0ED7-5AA2-2C6E-2E16-8F85B330D906}"/>
              </a:ext>
            </a:extLst>
          </p:cNvPr>
          <p:cNvSpPr txBox="1"/>
          <p:nvPr/>
        </p:nvSpPr>
        <p:spPr>
          <a:xfrm>
            <a:off x="576072" y="2427611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POST /upload/:</a:t>
            </a:r>
            <a:r>
              <a:rPr sz="1000" b="0" i="0" dirty="0" err="1">
                <a:solidFill>
                  <a:srgbClr val="475569"/>
                </a:solidFill>
              </a:rPr>
              <a:t>threadId</a:t>
            </a:r>
            <a:r>
              <a:rPr sz="1000" b="0" i="0" dirty="0">
                <a:solidFill>
                  <a:srgbClr val="475569"/>
                </a:solidFill>
              </a:rPr>
              <a:t>  ·  </a:t>
            </a:r>
            <a:r>
              <a:rPr sz="1000" b="0" i="0" dirty="0" err="1">
                <a:solidFill>
                  <a:srgbClr val="475569"/>
                </a:solidFill>
              </a:rPr>
              <a:t>multer</a:t>
            </a:r>
            <a:r>
              <a:rPr sz="1000" b="0" i="0" dirty="0">
                <a:solidFill>
                  <a:srgbClr val="475569"/>
                </a:solidFill>
              </a:rPr>
              <a:t>  ·  </a:t>
            </a:r>
            <a:r>
              <a:rPr sz="1000" b="0" i="0" dirty="0" err="1">
                <a:solidFill>
                  <a:srgbClr val="475569"/>
                </a:solidFill>
              </a:rPr>
              <a:t>MediaRecorder</a:t>
            </a:r>
            <a:r>
              <a:rPr sz="1000" b="0" i="0" dirty="0">
                <a:solidFill>
                  <a:srgbClr val="475569"/>
                </a:solidFill>
              </a:rPr>
              <a:t> API (</a:t>
            </a:r>
            <a:r>
              <a:rPr sz="1000" b="0" i="0" dirty="0" err="1">
                <a:solidFill>
                  <a:srgbClr val="475569"/>
                </a:solidFill>
              </a:rPr>
              <a:t>WebM</a:t>
            </a:r>
            <a:r>
              <a:rPr sz="1000" b="0" i="0" dirty="0">
                <a:solidFill>
                  <a:srgbClr val="475569"/>
                </a:solidFill>
              </a:rPr>
              <a:t>/MP4)  ·  max 200 MB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DD964E9-8E2E-454B-B098-BF0C835E784F}"/>
              </a:ext>
            </a:extLst>
          </p:cNvPr>
          <p:cNvSpPr/>
          <p:nvPr/>
        </p:nvSpPr>
        <p:spPr>
          <a:xfrm>
            <a:off x="411480" y="2761488"/>
            <a:ext cx="5394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F12FB87-C54E-04AC-94B8-FD8979B3CD07}"/>
              </a:ext>
            </a:extLst>
          </p:cNvPr>
          <p:cNvSpPr/>
          <p:nvPr/>
        </p:nvSpPr>
        <p:spPr>
          <a:xfrm>
            <a:off x="411480" y="2761488"/>
            <a:ext cx="38100" cy="5029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09E1CA-FBF0-113F-7A46-D4454E6CD9AD}"/>
              </a:ext>
            </a:extLst>
          </p:cNvPr>
          <p:cNvSpPr txBox="1"/>
          <p:nvPr/>
        </p:nvSpPr>
        <p:spPr>
          <a:xfrm>
            <a:off x="574548" y="2802465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7C3AED"/>
                </a:solidFill>
              </a:rPr>
              <a:t>Groq Whisper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8C5C70-8237-8140-401E-6684C80A0064}"/>
              </a:ext>
            </a:extLst>
          </p:cNvPr>
          <p:cNvSpPr txBox="1"/>
          <p:nvPr/>
        </p:nvSpPr>
        <p:spPr>
          <a:xfrm>
            <a:off x="592836" y="3009710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whisper-large-v3 transcribes audio track  →  stored in </a:t>
            </a:r>
            <a:r>
              <a:rPr sz="1000" b="0" i="0" dirty="0" err="1">
                <a:solidFill>
                  <a:srgbClr val="475569"/>
                </a:solidFill>
              </a:rPr>
              <a:t>candidates.video_transcript</a:t>
            </a:r>
            <a:endParaRPr sz="1000" b="0" i="0" dirty="0">
              <a:solidFill>
                <a:srgbClr val="475569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489A2DF-F146-B023-CE98-0BD998A3F843}"/>
              </a:ext>
            </a:extLst>
          </p:cNvPr>
          <p:cNvSpPr/>
          <p:nvPr/>
        </p:nvSpPr>
        <p:spPr>
          <a:xfrm>
            <a:off x="411480" y="3355848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40A1DE1-C86E-236D-C5D0-E9ABC5763700}"/>
              </a:ext>
            </a:extLst>
          </p:cNvPr>
          <p:cNvSpPr/>
          <p:nvPr/>
        </p:nvSpPr>
        <p:spPr>
          <a:xfrm>
            <a:off x="411480" y="3355848"/>
            <a:ext cx="38100" cy="6217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4287CB-C578-DC55-D38E-629253E1260A}"/>
              </a:ext>
            </a:extLst>
          </p:cNvPr>
          <p:cNvSpPr txBox="1"/>
          <p:nvPr/>
        </p:nvSpPr>
        <p:spPr>
          <a:xfrm>
            <a:off x="576072" y="3402235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D97706"/>
                </a:solidFill>
              </a:rPr>
              <a:t>Gemini 2.5 Flash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602656-6757-5577-03D8-D8D2BBBBFDB1}"/>
              </a:ext>
            </a:extLst>
          </p:cNvPr>
          <p:cNvSpPr txBox="1"/>
          <p:nvPr/>
        </p:nvSpPr>
        <p:spPr>
          <a:xfrm>
            <a:off x="576072" y="3589176"/>
            <a:ext cx="5193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Receives transcript + resume summary + JD context
Returns: </a:t>
            </a:r>
            <a:r>
              <a:rPr sz="1000" b="0" i="0" dirty="0" err="1">
                <a:solidFill>
                  <a:srgbClr val="475569"/>
                </a:solidFill>
              </a:rPr>
              <a:t>english_score</a:t>
            </a:r>
            <a:r>
              <a:rPr sz="1000" b="0" i="0" dirty="0">
                <a:solidFill>
                  <a:srgbClr val="475569"/>
                </a:solidFill>
              </a:rPr>
              <a:t>, </a:t>
            </a:r>
            <a:r>
              <a:rPr sz="1000" b="0" i="0" dirty="0" err="1">
                <a:solidFill>
                  <a:srgbClr val="475569"/>
                </a:solidFill>
              </a:rPr>
              <a:t>confidence_score</a:t>
            </a:r>
            <a:r>
              <a:rPr sz="1000" b="0" i="0" dirty="0">
                <a:solidFill>
                  <a:srgbClr val="475569"/>
                </a:solidFill>
              </a:rPr>
              <a:t>, skills[], </a:t>
            </a:r>
            <a:r>
              <a:rPr sz="1000" b="0" i="0" dirty="0" err="1">
                <a:solidFill>
                  <a:srgbClr val="475569"/>
                </a:solidFill>
              </a:rPr>
              <a:t>video_summary</a:t>
            </a:r>
            <a:endParaRPr sz="1000" b="0" i="0" dirty="0">
              <a:solidFill>
                <a:srgbClr val="475569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7E3E83-6052-2C04-3248-FA2D65A88617}"/>
              </a:ext>
            </a:extLst>
          </p:cNvPr>
          <p:cNvSpPr/>
          <p:nvPr/>
        </p:nvSpPr>
        <p:spPr>
          <a:xfrm>
            <a:off x="411480" y="4069080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75C851A-C339-C9BF-46AF-F43AFB723579}"/>
              </a:ext>
            </a:extLst>
          </p:cNvPr>
          <p:cNvSpPr/>
          <p:nvPr/>
        </p:nvSpPr>
        <p:spPr>
          <a:xfrm>
            <a:off x="411480" y="4069080"/>
            <a:ext cx="38100" cy="62179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2A5491-7C57-3FB1-D97A-40B6D64FF37E}"/>
              </a:ext>
            </a:extLst>
          </p:cNvPr>
          <p:cNvSpPr txBox="1"/>
          <p:nvPr/>
        </p:nvSpPr>
        <p:spPr>
          <a:xfrm>
            <a:off x="576072" y="4117635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59669"/>
                </a:solidFill>
              </a:rPr>
              <a:t>Combined Score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A0E1AD-7FCD-867F-DB08-BECD65272B44}"/>
              </a:ext>
            </a:extLst>
          </p:cNvPr>
          <p:cNvSpPr txBox="1"/>
          <p:nvPr/>
        </p:nvSpPr>
        <p:spPr>
          <a:xfrm>
            <a:off x="574548" y="4285232"/>
            <a:ext cx="5193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475569"/>
                </a:solidFill>
              </a:rPr>
              <a:t>combinedScore</a:t>
            </a:r>
            <a:r>
              <a:rPr sz="1000" b="0" i="0" dirty="0">
                <a:solidFill>
                  <a:srgbClr val="475569"/>
                </a:solidFill>
              </a:rPr>
              <a:t> = (</a:t>
            </a:r>
            <a:r>
              <a:rPr sz="1000" b="0" i="0" dirty="0" err="1">
                <a:solidFill>
                  <a:srgbClr val="475569"/>
                </a:solidFill>
              </a:rPr>
              <a:t>resume_score</a:t>
            </a:r>
            <a:r>
              <a:rPr sz="1000" b="0" i="0" dirty="0">
                <a:solidFill>
                  <a:srgbClr val="475569"/>
                </a:solidFill>
              </a:rPr>
              <a:t> × 0.4) + (</a:t>
            </a:r>
            <a:r>
              <a:rPr sz="1000" b="0" i="0" dirty="0" err="1">
                <a:solidFill>
                  <a:srgbClr val="475569"/>
                </a:solidFill>
              </a:rPr>
              <a:t>video_score</a:t>
            </a:r>
            <a:r>
              <a:rPr sz="1000" b="0" i="0" dirty="0">
                <a:solidFill>
                  <a:srgbClr val="475569"/>
                </a:solidFill>
              </a:rPr>
              <a:t> × 0.6)
Pass → status=Done  |  Fail → status=Rejected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3E85D13-7305-86F9-620D-C07BCD56DCE0}"/>
              </a:ext>
            </a:extLst>
          </p:cNvPr>
          <p:cNvSpPr/>
          <p:nvPr/>
        </p:nvSpPr>
        <p:spPr>
          <a:xfrm>
            <a:off x="411480" y="4782312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FA1493-8873-6792-203B-BEC9567083F1}"/>
              </a:ext>
            </a:extLst>
          </p:cNvPr>
          <p:cNvSpPr/>
          <p:nvPr/>
        </p:nvSpPr>
        <p:spPr>
          <a:xfrm>
            <a:off x="411480" y="4782312"/>
            <a:ext cx="38100" cy="62179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F3BE04-B68A-B135-4116-9C1BF3B274C7}"/>
              </a:ext>
            </a:extLst>
          </p:cNvPr>
          <p:cNvSpPr txBox="1"/>
          <p:nvPr/>
        </p:nvSpPr>
        <p:spPr>
          <a:xfrm>
            <a:off x="576072" y="4873752"/>
            <a:ext cx="519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DC2626"/>
                </a:solidFill>
              </a:rPr>
              <a:t>Auto-Schedule Trigger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5C6019-40C7-60D2-F1F3-6FCE54C55B11}"/>
              </a:ext>
            </a:extLst>
          </p:cNvPr>
          <p:cNvSpPr txBox="1"/>
          <p:nvPr/>
        </p:nvSpPr>
        <p:spPr>
          <a:xfrm>
            <a:off x="576072" y="5042485"/>
            <a:ext cx="5193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status=Done immediately calls </a:t>
            </a:r>
            <a:r>
              <a:rPr sz="1000" b="0" i="0" dirty="0" err="1">
                <a:solidFill>
                  <a:srgbClr val="475569"/>
                </a:solidFill>
              </a:rPr>
              <a:t>autoAssignAndConfirmCandidate</a:t>
            </a:r>
            <a:r>
              <a:rPr sz="1000" b="0" i="0" dirty="0">
                <a:solidFill>
                  <a:srgbClr val="475569"/>
                </a:solidFill>
              </a:rPr>
              <a:t>()
Background worker (every 3 min) catches any missed transitions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92EFAC-1C8D-CBA8-C7B9-EF5997D080D1}"/>
              </a:ext>
            </a:extLst>
          </p:cNvPr>
          <p:cNvSpPr txBox="1"/>
          <p:nvPr/>
        </p:nvSpPr>
        <p:spPr>
          <a:xfrm>
            <a:off x="6236208" y="16642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F172A"/>
                </a:solidFill>
              </a:rPr>
              <a:t>SMART SCHEDULING ENGINE  —  </a:t>
            </a:r>
            <a:r>
              <a:rPr lang="en-US" sz="1000" b="1" i="0" dirty="0" err="1">
                <a:solidFill>
                  <a:srgbClr val="0F172A"/>
                </a:solidFill>
              </a:rPr>
              <a:t>a</a:t>
            </a:r>
            <a:r>
              <a:rPr sz="1000" b="1" i="0" dirty="0" err="1">
                <a:solidFill>
                  <a:srgbClr val="0F172A"/>
                </a:solidFill>
              </a:rPr>
              <a:t>utoAssignAndConfirmCandidate</a:t>
            </a:r>
            <a:r>
              <a:rPr sz="1000" b="1" i="0" dirty="0">
                <a:solidFill>
                  <a:srgbClr val="0F172A"/>
                </a:solidFill>
              </a:rPr>
              <a:t>()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DA8526D-771C-CB90-7252-DA7C173842DF}"/>
              </a:ext>
            </a:extLst>
          </p:cNvPr>
          <p:cNvSpPr/>
          <p:nvPr/>
        </p:nvSpPr>
        <p:spPr>
          <a:xfrm>
            <a:off x="6236208" y="1984248"/>
            <a:ext cx="5532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7AEEF4F-F2F9-781E-568B-C9A86D4CA109}"/>
              </a:ext>
            </a:extLst>
          </p:cNvPr>
          <p:cNvSpPr/>
          <p:nvPr/>
        </p:nvSpPr>
        <p:spPr>
          <a:xfrm>
            <a:off x="6236208" y="1984248"/>
            <a:ext cx="38100" cy="80467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014C7C6-3FC4-AA52-52FF-A38F6705518C}"/>
              </a:ext>
            </a:extLst>
          </p:cNvPr>
          <p:cNvSpPr txBox="1"/>
          <p:nvPr/>
        </p:nvSpPr>
        <p:spPr>
          <a:xfrm>
            <a:off x="6400800" y="1995887"/>
            <a:ext cx="5330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6366F1"/>
                </a:solidFill>
              </a:rPr>
              <a:t>suggestInterviewersForCandidate</a:t>
            </a:r>
            <a:r>
              <a:rPr sz="1000" b="1" i="0" dirty="0">
                <a:solidFill>
                  <a:srgbClr val="6366F1"/>
                </a:solidFill>
              </a:rPr>
              <a:t>()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5CFB1D-A5B0-D9B6-054E-DFBDD9F76A7E}"/>
              </a:ext>
            </a:extLst>
          </p:cNvPr>
          <p:cNvSpPr txBox="1"/>
          <p:nvPr/>
        </p:nvSpPr>
        <p:spPr>
          <a:xfrm>
            <a:off x="6400800" y="2242108"/>
            <a:ext cx="53309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Query interviewers assigned to this interview  →  fallback: all with available slots
</a:t>
            </a:r>
            <a:r>
              <a:rPr sz="1000" b="0" i="0" dirty="0" err="1">
                <a:solidFill>
                  <a:srgbClr val="475569"/>
                </a:solidFill>
              </a:rPr>
              <a:t>computeInterviewerMatchPercent</a:t>
            </a:r>
            <a:r>
              <a:rPr sz="1000" b="0" i="0" dirty="0">
                <a:solidFill>
                  <a:srgbClr val="475569"/>
                </a:solidFill>
              </a:rPr>
              <a:t>() → skill string overlap  →  </a:t>
            </a:r>
            <a:r>
              <a:rPr sz="1000" b="0" i="0" dirty="0" err="1">
                <a:solidFill>
                  <a:srgbClr val="475569"/>
                </a:solidFill>
              </a:rPr>
              <a:t>scoreInterviewersWithAI</a:t>
            </a:r>
            <a:r>
              <a:rPr sz="1000" b="0" i="0" dirty="0">
                <a:solidFill>
                  <a:srgbClr val="475569"/>
                </a:solidFill>
              </a:rPr>
              <a:t>() → </a:t>
            </a:r>
            <a:r>
              <a:rPr sz="1000" b="0" i="0" dirty="0" err="1">
                <a:solidFill>
                  <a:srgbClr val="475569"/>
                </a:solidFill>
              </a:rPr>
              <a:t>Groq</a:t>
            </a:r>
            <a:r>
              <a:rPr sz="1000" b="0" i="0" dirty="0">
                <a:solidFill>
                  <a:srgbClr val="475569"/>
                </a:solidFill>
              </a:rPr>
              <a:t> score 0-100 + </a:t>
            </a:r>
            <a:r>
              <a:rPr sz="1000" b="0" i="0" dirty="0" err="1">
                <a:solidFill>
                  <a:srgbClr val="475569"/>
                </a:solidFill>
              </a:rPr>
              <a:t>can_interview</a:t>
            </a:r>
            <a:r>
              <a:rPr sz="1000" b="0" i="0" dirty="0">
                <a:solidFill>
                  <a:srgbClr val="475569"/>
                </a:solidFill>
              </a:rPr>
              <a:t> bool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51DDBD7-62FD-58FA-1852-F3C723F8BCFD}"/>
              </a:ext>
            </a:extLst>
          </p:cNvPr>
          <p:cNvSpPr/>
          <p:nvPr/>
        </p:nvSpPr>
        <p:spPr>
          <a:xfrm>
            <a:off x="6236208" y="2898648"/>
            <a:ext cx="5532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494B41A-601B-2FFA-C547-76729BD9A2D9}"/>
              </a:ext>
            </a:extLst>
          </p:cNvPr>
          <p:cNvSpPr/>
          <p:nvPr/>
        </p:nvSpPr>
        <p:spPr>
          <a:xfrm>
            <a:off x="6236208" y="2898648"/>
            <a:ext cx="38100" cy="8046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EAD485-D8D3-DD74-2AC9-73A6DCA937A0}"/>
              </a:ext>
            </a:extLst>
          </p:cNvPr>
          <p:cNvSpPr txBox="1"/>
          <p:nvPr/>
        </p:nvSpPr>
        <p:spPr>
          <a:xfrm>
            <a:off x="6437376" y="2886599"/>
            <a:ext cx="5330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D97706"/>
                </a:solidFill>
              </a:rPr>
              <a:t>HR Review Gate  (AI_HR_THRESHOLD = 40)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6633E0-1185-04BA-7BDD-E1893E81072D}"/>
              </a:ext>
            </a:extLst>
          </p:cNvPr>
          <p:cNvSpPr txBox="1"/>
          <p:nvPr/>
        </p:nvSpPr>
        <p:spPr>
          <a:xfrm>
            <a:off x="6449568" y="3143034"/>
            <a:ext cx="5330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475569"/>
                </a:solidFill>
              </a:rPr>
              <a:t>topMatch</a:t>
            </a:r>
            <a:r>
              <a:rPr sz="1000" b="0" i="0" dirty="0">
                <a:solidFill>
                  <a:srgbClr val="475569"/>
                </a:solidFill>
              </a:rPr>
              <a:t> &lt; 40 OR !</a:t>
            </a:r>
            <a:r>
              <a:rPr sz="1000" b="0" i="0" dirty="0" err="1">
                <a:solidFill>
                  <a:srgbClr val="475569"/>
                </a:solidFill>
              </a:rPr>
              <a:t>can_interview</a:t>
            </a:r>
            <a:r>
              <a:rPr sz="1000" b="0" i="0" dirty="0">
                <a:solidFill>
                  <a:srgbClr val="475569"/>
                </a:solidFill>
              </a:rPr>
              <a:t>  →  INSERT </a:t>
            </a:r>
            <a:r>
              <a:rPr sz="1000" b="0" i="0" dirty="0" err="1">
                <a:solidFill>
                  <a:srgbClr val="475569"/>
                </a:solidFill>
              </a:rPr>
              <a:t>interviewer_assignment_requests</a:t>
            </a:r>
            <a:r>
              <a:rPr sz="1000" b="0" i="0" dirty="0">
                <a:solidFill>
                  <a:srgbClr val="475569"/>
                </a:solidFill>
              </a:rPr>
              <a:t>
</a:t>
            </a:r>
            <a:r>
              <a:rPr sz="1000" b="0" i="0" dirty="0" err="1">
                <a:solidFill>
                  <a:srgbClr val="475569"/>
                </a:solidFill>
              </a:rPr>
              <a:t>sendHrApprovalRequestNotification</a:t>
            </a:r>
            <a:r>
              <a:rPr sz="1000" b="0" i="0" dirty="0">
                <a:solidFill>
                  <a:srgbClr val="475569"/>
                </a:solidFill>
              </a:rPr>
              <a:t>()  →  HR approves manually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ACB41BB-48F8-B5A0-56FF-5338EA7D2D22}"/>
              </a:ext>
            </a:extLst>
          </p:cNvPr>
          <p:cNvSpPr/>
          <p:nvPr/>
        </p:nvSpPr>
        <p:spPr>
          <a:xfrm>
            <a:off x="6236208" y="3813048"/>
            <a:ext cx="5532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84D1A19-932A-46C6-1216-92BB90408A41}"/>
              </a:ext>
            </a:extLst>
          </p:cNvPr>
          <p:cNvSpPr/>
          <p:nvPr/>
        </p:nvSpPr>
        <p:spPr>
          <a:xfrm>
            <a:off x="6236208" y="3813048"/>
            <a:ext cx="38100" cy="80467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AD9ED5-6108-C44C-DF08-1889C326F98E}"/>
              </a:ext>
            </a:extLst>
          </p:cNvPr>
          <p:cNvSpPr txBox="1"/>
          <p:nvPr/>
        </p:nvSpPr>
        <p:spPr>
          <a:xfrm>
            <a:off x="6400800" y="3904488"/>
            <a:ext cx="5330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59669"/>
                </a:solidFill>
              </a:rPr>
              <a:t>Auto-Confirm Path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EB94BC-D68A-03CC-86C9-700A0480F422}"/>
              </a:ext>
            </a:extLst>
          </p:cNvPr>
          <p:cNvSpPr txBox="1"/>
          <p:nvPr/>
        </p:nvSpPr>
        <p:spPr>
          <a:xfrm>
            <a:off x="6400800" y="4142232"/>
            <a:ext cx="5330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475569"/>
                </a:solidFill>
              </a:rPr>
              <a:t>findAvailableSlots</a:t>
            </a:r>
            <a:r>
              <a:rPr sz="1000" b="0" i="0" dirty="0">
                <a:solidFill>
                  <a:srgbClr val="475569"/>
                </a:solidFill>
              </a:rPr>
              <a:t>()  →  Priority 1: match% &gt; 50  →  </a:t>
            </a:r>
            <a:r>
              <a:rPr sz="1000" b="0" i="0" dirty="0" err="1">
                <a:solidFill>
                  <a:srgbClr val="475569"/>
                </a:solidFill>
              </a:rPr>
              <a:t>Groq</a:t>
            </a:r>
            <a:r>
              <a:rPr sz="1000" b="0" i="0" dirty="0">
                <a:solidFill>
                  <a:srgbClr val="475569"/>
                </a:solidFill>
              </a:rPr>
              <a:t> ranks slots for variety
INSERT </a:t>
            </a:r>
            <a:r>
              <a:rPr sz="1000" b="0" i="0" dirty="0" err="1">
                <a:solidFill>
                  <a:srgbClr val="475569"/>
                </a:solidFill>
              </a:rPr>
              <a:t>scheduled_interviews</a:t>
            </a:r>
            <a:r>
              <a:rPr sz="1000" b="0" i="0" dirty="0">
                <a:solidFill>
                  <a:srgbClr val="475569"/>
                </a:solidFill>
              </a:rPr>
              <a:t> (status='confirmed')  →  book slot  →  send emails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9B269EE-685E-3AD3-7838-8E090F3891D1}"/>
              </a:ext>
            </a:extLst>
          </p:cNvPr>
          <p:cNvSpPr/>
          <p:nvPr/>
        </p:nvSpPr>
        <p:spPr>
          <a:xfrm>
            <a:off x="6236208" y="4727448"/>
            <a:ext cx="5532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F592553-A0CD-330C-A0C1-6A8F520003D9}"/>
              </a:ext>
            </a:extLst>
          </p:cNvPr>
          <p:cNvSpPr/>
          <p:nvPr/>
        </p:nvSpPr>
        <p:spPr>
          <a:xfrm>
            <a:off x="6236208" y="4727448"/>
            <a:ext cx="38100" cy="8046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547127-6497-2CEF-29D6-968414F697A8}"/>
              </a:ext>
            </a:extLst>
          </p:cNvPr>
          <p:cNvSpPr txBox="1"/>
          <p:nvPr/>
        </p:nvSpPr>
        <p:spPr>
          <a:xfrm>
            <a:off x="6400800" y="4818888"/>
            <a:ext cx="5330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3B82F6"/>
                </a:solidFill>
              </a:rPr>
              <a:t>Confirmation Emails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3DA317-2683-3BA8-5DFC-855161BBAD0F}"/>
              </a:ext>
            </a:extLst>
          </p:cNvPr>
          <p:cNvSpPr txBox="1"/>
          <p:nvPr/>
        </p:nvSpPr>
        <p:spPr>
          <a:xfrm>
            <a:off x="6400800" y="5056632"/>
            <a:ext cx="5330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475569"/>
                </a:solidFill>
              </a:rPr>
              <a:t>sendScheduleConfirmedEmails</a:t>
            </a:r>
            <a:r>
              <a:rPr sz="1000" b="0" i="0" dirty="0">
                <a:solidFill>
                  <a:srgbClr val="475569"/>
                </a:solidFill>
              </a:rPr>
              <a:t>()  →  candidate gets date + meet link
Interviewer gets date + candidate info  →  </a:t>
            </a:r>
            <a:r>
              <a:rPr sz="1000" b="0" i="0" dirty="0" err="1">
                <a:solidFill>
                  <a:srgbClr val="475569"/>
                </a:solidFill>
              </a:rPr>
              <a:t>createCalendarEvent</a:t>
            </a:r>
            <a:r>
              <a:rPr sz="1000" b="0" i="0" dirty="0">
                <a:solidFill>
                  <a:srgbClr val="475569"/>
                </a:solidFill>
              </a:rPr>
              <a:t>() via MCP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8808CDB-ACE3-466F-1003-112B43D6D713}"/>
              </a:ext>
            </a:extLst>
          </p:cNvPr>
          <p:cNvSpPr/>
          <p:nvPr/>
        </p:nvSpPr>
        <p:spPr>
          <a:xfrm>
            <a:off x="6236208" y="5641848"/>
            <a:ext cx="55321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CCC1B7C-7EA8-687B-4F83-11668B9AC9EE}"/>
              </a:ext>
            </a:extLst>
          </p:cNvPr>
          <p:cNvSpPr/>
          <p:nvPr/>
        </p:nvSpPr>
        <p:spPr>
          <a:xfrm>
            <a:off x="6236208" y="5641848"/>
            <a:ext cx="38100" cy="8046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4811071-CEAD-7A00-5FDA-21C35430655C}"/>
              </a:ext>
            </a:extLst>
          </p:cNvPr>
          <p:cNvSpPr txBox="1"/>
          <p:nvPr/>
        </p:nvSpPr>
        <p:spPr>
          <a:xfrm>
            <a:off x="6400800" y="5733288"/>
            <a:ext cx="5330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7C3AED"/>
                </a:solidFill>
              </a:rPr>
              <a:t>Interviewer Response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A3754E-AB47-271F-CC26-0C1FC7A06C56}"/>
              </a:ext>
            </a:extLst>
          </p:cNvPr>
          <p:cNvSpPr txBox="1"/>
          <p:nvPr/>
        </p:nvSpPr>
        <p:spPr>
          <a:xfrm>
            <a:off x="6400800" y="5971032"/>
            <a:ext cx="5330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Token link: Confirm → status=confirmed  |  Decline → slot freed → auto-reschedule
Portal route (OTP login): same confirm/decline logic</a:t>
            </a:r>
          </a:p>
        </p:txBody>
      </p:sp>
    </p:spTree>
    <p:extLst>
      <p:ext uri="{BB962C8B-B14F-4D97-AF65-F5344CB8AC3E}">
        <p14:creationId xmlns:p14="http://schemas.microsoft.com/office/powerpoint/2010/main" val="367463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4D69DA-4A23-E0FC-F21A-DA67221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9CD8D-A8F1-C5DB-4176-7E6A68D3FF2A}"/>
              </a:ext>
            </a:extLst>
          </p:cNvPr>
          <p:cNvSpPr txBox="1"/>
          <p:nvPr/>
        </p:nvSpPr>
        <p:spPr>
          <a:xfrm>
            <a:off x="341528" y="360628"/>
            <a:ext cx="85350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F172A"/>
                </a:solidFill>
              </a:rPr>
              <a:t>MCP Layer — Tool Routing, AI Models &amp; External Services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3E8A3-8231-082F-47D7-8C96C12E95FE}"/>
              </a:ext>
            </a:extLst>
          </p:cNvPr>
          <p:cNvSpPr txBox="1"/>
          <p:nvPr/>
        </p:nvSpPr>
        <p:spPr>
          <a:xfrm>
            <a:off x="365760" y="950976"/>
            <a:ext cx="114601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All AI calls go through the MCP client manager with graceful in-process fallback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DEC8A8-458A-9C3E-205E-2BDE89033B88}"/>
              </a:ext>
            </a:extLst>
          </p:cNvPr>
          <p:cNvSpPr/>
          <p:nvPr/>
        </p:nvSpPr>
        <p:spPr>
          <a:xfrm>
            <a:off x="365760" y="1234440"/>
            <a:ext cx="11460175" cy="1905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588BC-A9C2-CC70-8BE2-3E8CA94D8304}"/>
              </a:ext>
            </a:extLst>
          </p:cNvPr>
          <p:cNvSpPr/>
          <p:nvPr/>
        </p:nvSpPr>
        <p:spPr>
          <a:xfrm>
            <a:off x="347472" y="1371600"/>
            <a:ext cx="11686032" cy="5669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214DE-9821-4A4C-B077-282CB640B6B6}"/>
              </a:ext>
            </a:extLst>
          </p:cNvPr>
          <p:cNvSpPr txBox="1"/>
          <p:nvPr/>
        </p:nvSpPr>
        <p:spPr>
          <a:xfrm>
            <a:off x="548640" y="14264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70C0"/>
                </a:solidFill>
              </a:rPr>
              <a:t>MCP CLIENT MANAGER  (mcp-client-manager.js)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BFDCE-21F0-F6E1-B98B-5D20DC9BCF43}"/>
              </a:ext>
            </a:extLst>
          </p:cNvPr>
          <p:cNvSpPr txBox="1"/>
          <p:nvPr/>
        </p:nvSpPr>
        <p:spPr>
          <a:xfrm>
            <a:off x="548640" y="1682496"/>
            <a:ext cx="1118585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475569"/>
                </a:solidFill>
              </a:rPr>
              <a:t>TOOL_REGISTRY routes each tool name to the correct server  ·  Auto-respawn on close  ·  Per-server stats  ·  Graceful fallback: if MCP fails → runs logic in-process directly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5FDBC1-1ADA-A996-BBEC-953FECB1BC88}"/>
              </a:ext>
            </a:extLst>
          </p:cNvPr>
          <p:cNvSpPr/>
          <p:nvPr/>
        </p:nvSpPr>
        <p:spPr>
          <a:xfrm>
            <a:off x="347472" y="2029968"/>
            <a:ext cx="2852928" cy="2560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CC17ED-33BC-6D08-F917-0DA31FF80DDE}"/>
              </a:ext>
            </a:extLst>
          </p:cNvPr>
          <p:cNvSpPr/>
          <p:nvPr/>
        </p:nvSpPr>
        <p:spPr>
          <a:xfrm>
            <a:off x="347472" y="2029968"/>
            <a:ext cx="2852928" cy="566928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974C0-D260-2267-2B56-1054DB8B6681}"/>
              </a:ext>
            </a:extLst>
          </p:cNvPr>
          <p:cNvSpPr txBox="1"/>
          <p:nvPr/>
        </p:nvSpPr>
        <p:spPr>
          <a:xfrm>
            <a:off x="457200" y="2084831"/>
            <a:ext cx="267004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FFFFFF"/>
                </a:solidFill>
              </a:rPr>
              <a:t>MCP SERVER #1
Resume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542FD0-3098-5D2F-5CE5-D6DFB48F14C5}"/>
              </a:ext>
            </a:extLst>
          </p:cNvPr>
          <p:cNvSpPr txBox="1"/>
          <p:nvPr/>
        </p:nvSpPr>
        <p:spPr>
          <a:xfrm>
            <a:off x="457200" y="2651760"/>
            <a:ext cx="2670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94A3B8"/>
                </a:solidFill>
              </a:rPr>
              <a:t>stdio</a:t>
            </a:r>
            <a:r>
              <a:rPr sz="1000" b="0" i="1" dirty="0">
                <a:solidFill>
                  <a:srgbClr val="94A3B8"/>
                </a:solidFill>
              </a:rPr>
              <a:t> (</a:t>
            </a:r>
            <a:r>
              <a:rPr sz="1000" b="0" i="1" dirty="0" err="1">
                <a:solidFill>
                  <a:srgbClr val="94A3B8"/>
                </a:solidFill>
              </a:rPr>
              <a:t>StdioClientTransport</a:t>
            </a:r>
            <a:r>
              <a:rPr sz="1000" b="0" i="1" dirty="0">
                <a:solidFill>
                  <a:srgbClr val="94A3B8"/>
                </a:solidFill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37CBE1-47A0-F9F1-1DA4-2093F2AF3643}"/>
              </a:ext>
            </a:extLst>
          </p:cNvPr>
          <p:cNvSpPr txBox="1"/>
          <p:nvPr/>
        </p:nvSpPr>
        <p:spPr>
          <a:xfrm>
            <a:off x="457200" y="2880360"/>
            <a:ext cx="26700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• </a:t>
            </a:r>
            <a:r>
              <a:rPr sz="1000" b="0" i="0" dirty="0" err="1">
                <a:solidFill>
                  <a:srgbClr val="475569"/>
                </a:solidFill>
              </a:rPr>
              <a:t>analyze_resume</a:t>
            </a:r>
            <a:r>
              <a:rPr sz="1000" b="0" i="0" dirty="0">
                <a:solidFill>
                  <a:srgbClr val="475569"/>
                </a:solidFill>
              </a:rPr>
              <a:t>  →  full </a:t>
            </a:r>
            <a:r>
              <a:rPr sz="1000" b="0" i="0" dirty="0" err="1">
                <a:solidFill>
                  <a:srgbClr val="475569"/>
                </a:solidFill>
              </a:rPr>
              <a:t>LangGraph</a:t>
            </a:r>
            <a:r>
              <a:rPr sz="1000" b="0" i="0" dirty="0">
                <a:solidFill>
                  <a:srgbClr val="475569"/>
                </a:solidFill>
              </a:rPr>
              <a:t> invoke
• </a:t>
            </a:r>
            <a:r>
              <a:rPr sz="1000" b="0" i="0" dirty="0" err="1">
                <a:solidFill>
                  <a:srgbClr val="475569"/>
                </a:solidFill>
              </a:rPr>
              <a:t>analyze_resume_only</a:t>
            </a:r>
            <a:r>
              <a:rPr sz="1000" b="0" i="0" dirty="0">
                <a:solidFill>
                  <a:srgbClr val="475569"/>
                </a:solidFill>
              </a:rPr>
              <a:t>  →  </a:t>
            </a:r>
            <a:r>
              <a:rPr sz="1000" b="0" i="0" dirty="0" err="1">
                <a:solidFill>
                  <a:srgbClr val="475569"/>
                </a:solidFill>
              </a:rPr>
              <a:t>analyzeResume</a:t>
            </a:r>
            <a:r>
              <a:rPr sz="1000" b="0" i="0" dirty="0">
                <a:solidFill>
                  <a:srgbClr val="475569"/>
                </a:solidFill>
              </a:rPr>
              <a:t> node
• </a:t>
            </a:r>
            <a:r>
              <a:rPr sz="1000" b="0" i="0" dirty="0" err="1">
                <a:solidFill>
                  <a:srgbClr val="475569"/>
                </a:solidFill>
              </a:rPr>
              <a:t>send_invite</a:t>
            </a:r>
            <a:r>
              <a:rPr sz="1000" b="0" i="0" dirty="0">
                <a:solidFill>
                  <a:srgbClr val="475569"/>
                </a:solidFill>
              </a:rPr>
              <a:t>  →  </a:t>
            </a:r>
            <a:r>
              <a:rPr sz="1000" b="0" i="0" dirty="0" err="1">
                <a:solidFill>
                  <a:srgbClr val="475569"/>
                </a:solidFill>
              </a:rPr>
              <a:t>sendInvite</a:t>
            </a:r>
            <a:r>
              <a:rPr sz="1000" b="0" i="0" dirty="0">
                <a:solidFill>
                  <a:srgbClr val="475569"/>
                </a:solidFill>
              </a:rPr>
              <a:t> node
• </a:t>
            </a:r>
            <a:r>
              <a:rPr sz="1000" b="0" i="0" dirty="0" err="1">
                <a:solidFill>
                  <a:srgbClr val="475569"/>
                </a:solidFill>
              </a:rPr>
              <a:t>candidate_lookup</a:t>
            </a:r>
            <a:r>
              <a:rPr sz="1000" b="0" i="0" dirty="0">
                <a:solidFill>
                  <a:srgbClr val="475569"/>
                </a:solidFill>
              </a:rPr>
              <a:t>  →  DB SELECT candidates
• </a:t>
            </a:r>
            <a:r>
              <a:rPr sz="1000" b="0" i="0" dirty="0" err="1">
                <a:solidFill>
                  <a:srgbClr val="475569"/>
                </a:solidFill>
              </a:rPr>
              <a:t>candidate_benchmarks</a:t>
            </a:r>
            <a:r>
              <a:rPr sz="1000" b="0" i="0" dirty="0">
                <a:solidFill>
                  <a:srgbClr val="475569"/>
                </a:solidFill>
              </a:rPr>
              <a:t>  →  score aggregates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627BD-8316-6D3E-88A6-82A624D209C4}"/>
              </a:ext>
            </a:extLst>
          </p:cNvPr>
          <p:cNvSpPr/>
          <p:nvPr/>
        </p:nvSpPr>
        <p:spPr>
          <a:xfrm>
            <a:off x="3291840" y="2029968"/>
            <a:ext cx="2852928" cy="2560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178A27-D7E3-3714-3BD9-99D35184D098}"/>
              </a:ext>
            </a:extLst>
          </p:cNvPr>
          <p:cNvSpPr/>
          <p:nvPr/>
        </p:nvSpPr>
        <p:spPr>
          <a:xfrm>
            <a:off x="3291840" y="2029968"/>
            <a:ext cx="2852928" cy="566928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C22D80-A978-B209-3AD4-A38061076950}"/>
              </a:ext>
            </a:extLst>
          </p:cNvPr>
          <p:cNvSpPr txBox="1"/>
          <p:nvPr/>
        </p:nvSpPr>
        <p:spPr>
          <a:xfrm>
            <a:off x="3401568" y="2084831"/>
            <a:ext cx="267004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MCP SERVER #2
Scheduling Server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DF4D8-33AA-A43F-3E79-4C87C18D2920}"/>
              </a:ext>
            </a:extLst>
          </p:cNvPr>
          <p:cNvSpPr txBox="1"/>
          <p:nvPr/>
        </p:nvSpPr>
        <p:spPr>
          <a:xfrm>
            <a:off x="3401568" y="2651760"/>
            <a:ext cx="2670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94A3B8"/>
                </a:solidFill>
              </a:rPr>
              <a:t>stdio</a:t>
            </a:r>
            <a:r>
              <a:rPr sz="1000" b="0" i="1" dirty="0">
                <a:solidFill>
                  <a:srgbClr val="94A3B8"/>
                </a:solidFill>
              </a:rPr>
              <a:t> (</a:t>
            </a:r>
            <a:r>
              <a:rPr sz="1000" b="0" i="1" dirty="0" err="1">
                <a:solidFill>
                  <a:srgbClr val="94A3B8"/>
                </a:solidFill>
              </a:rPr>
              <a:t>StdioClientTransport</a:t>
            </a:r>
            <a:r>
              <a:rPr sz="1000" b="0" i="1" dirty="0">
                <a:solidFill>
                  <a:srgbClr val="94A3B8"/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B8874-38B4-27B0-C5ED-3F3FCB728565}"/>
              </a:ext>
            </a:extLst>
          </p:cNvPr>
          <p:cNvSpPr txBox="1"/>
          <p:nvPr/>
        </p:nvSpPr>
        <p:spPr>
          <a:xfrm>
            <a:off x="3401568" y="2880360"/>
            <a:ext cx="26700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• </a:t>
            </a:r>
            <a:r>
              <a:rPr sz="1000" b="0" i="0" dirty="0" err="1">
                <a:solidFill>
                  <a:srgbClr val="475569"/>
                </a:solidFill>
              </a:rPr>
              <a:t>schedule_candidate</a:t>
            </a:r>
            <a:r>
              <a:rPr sz="1000" b="0" i="0" dirty="0">
                <a:solidFill>
                  <a:srgbClr val="475569"/>
                </a:solidFill>
              </a:rPr>
              <a:t>  →  </a:t>
            </a:r>
            <a:r>
              <a:rPr sz="1000" b="0" i="0" dirty="0" err="1">
                <a:solidFill>
                  <a:srgbClr val="475569"/>
                </a:solidFill>
              </a:rPr>
              <a:t>scheduleCandidate</a:t>
            </a:r>
            <a:r>
              <a:rPr sz="1000" b="0" i="0" dirty="0">
                <a:solidFill>
                  <a:srgbClr val="475569"/>
                </a:solidFill>
              </a:rPr>
              <a:t>()
• </a:t>
            </a:r>
            <a:r>
              <a:rPr sz="1000" b="0" i="0" dirty="0" err="1">
                <a:solidFill>
                  <a:srgbClr val="475569"/>
                </a:solidFill>
              </a:rPr>
              <a:t>auto_assign_and_confirm</a:t>
            </a:r>
            <a:r>
              <a:rPr sz="1000" b="0" i="0" dirty="0">
                <a:solidFill>
                  <a:srgbClr val="475569"/>
                </a:solidFill>
              </a:rPr>
              <a:t>  →  full scheduling flow
• Finds slots  →  AI ranks  →  books  →  emails
• HR gate: &lt;40% match → HR review request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3B4C35-27F3-C949-860E-BD369D5E6B19}"/>
              </a:ext>
            </a:extLst>
          </p:cNvPr>
          <p:cNvSpPr/>
          <p:nvPr/>
        </p:nvSpPr>
        <p:spPr>
          <a:xfrm>
            <a:off x="6236208" y="2029968"/>
            <a:ext cx="2852928" cy="2560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DB89CA-626B-1ABB-4B4E-CC3E24D8E50B}"/>
              </a:ext>
            </a:extLst>
          </p:cNvPr>
          <p:cNvSpPr/>
          <p:nvPr/>
        </p:nvSpPr>
        <p:spPr>
          <a:xfrm>
            <a:off x="6236208" y="2029968"/>
            <a:ext cx="2852928" cy="566928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8ACE4-559F-C17A-71E9-7F06B1A89867}"/>
              </a:ext>
            </a:extLst>
          </p:cNvPr>
          <p:cNvSpPr txBox="1"/>
          <p:nvPr/>
        </p:nvSpPr>
        <p:spPr>
          <a:xfrm>
            <a:off x="6345936" y="2084831"/>
            <a:ext cx="267004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MCP SERVER #3
HR Server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C59938-0EA8-C54C-BF9D-E6349D9B6E44}"/>
              </a:ext>
            </a:extLst>
          </p:cNvPr>
          <p:cNvSpPr txBox="1"/>
          <p:nvPr/>
        </p:nvSpPr>
        <p:spPr>
          <a:xfrm>
            <a:off x="6345936" y="2651760"/>
            <a:ext cx="2670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94A3B8"/>
                </a:solidFill>
              </a:rPr>
              <a:t>stdio</a:t>
            </a:r>
            <a:r>
              <a:rPr sz="1000" b="0" i="1" dirty="0">
                <a:solidFill>
                  <a:srgbClr val="94A3B8"/>
                </a:solidFill>
              </a:rPr>
              <a:t> (</a:t>
            </a:r>
            <a:r>
              <a:rPr sz="1000" b="0" i="1" dirty="0" err="1">
                <a:solidFill>
                  <a:srgbClr val="94A3B8"/>
                </a:solidFill>
              </a:rPr>
              <a:t>StdioClientTransport</a:t>
            </a:r>
            <a:r>
              <a:rPr sz="1000" b="0" i="1" dirty="0">
                <a:solidFill>
                  <a:srgbClr val="94A3B8"/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3C63D9-DA82-D320-A42F-31EDE5C25FDA}"/>
              </a:ext>
            </a:extLst>
          </p:cNvPr>
          <p:cNvSpPr txBox="1"/>
          <p:nvPr/>
        </p:nvSpPr>
        <p:spPr>
          <a:xfrm>
            <a:off x="6345936" y="2880360"/>
            <a:ext cx="26700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• </a:t>
            </a:r>
            <a:r>
              <a:rPr sz="1000" b="0" i="0" dirty="0" err="1">
                <a:solidFill>
                  <a:srgbClr val="475569"/>
                </a:solidFill>
              </a:rPr>
              <a:t>list_hr_assignment_requests</a:t>
            </a:r>
            <a:r>
              <a:rPr sz="1000" b="0" i="0" dirty="0">
                <a:solidFill>
                  <a:srgbClr val="475569"/>
                </a:solidFill>
              </a:rPr>
              <a:t>
• </a:t>
            </a:r>
            <a:r>
              <a:rPr sz="1000" b="0" i="0" dirty="0" err="1">
                <a:solidFill>
                  <a:srgbClr val="475569"/>
                </a:solidFill>
              </a:rPr>
              <a:t>approve_hr_assignment_request</a:t>
            </a:r>
            <a:r>
              <a:rPr sz="1000" b="0" i="0" dirty="0">
                <a:solidFill>
                  <a:srgbClr val="475569"/>
                </a:solidFill>
              </a:rPr>
              <a:t>
• </a:t>
            </a:r>
            <a:r>
              <a:rPr sz="1000" b="0" i="0" dirty="0" err="1">
                <a:solidFill>
                  <a:srgbClr val="475569"/>
                </a:solidFill>
              </a:rPr>
              <a:t>reject_hr_assignment_request</a:t>
            </a:r>
            <a:r>
              <a:rPr sz="1000" b="0" i="0" dirty="0">
                <a:solidFill>
                  <a:srgbClr val="475569"/>
                </a:solidFill>
              </a:rPr>
              <a:t>
• HR admin actions via MCP delegation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F754BF-318E-B93C-A3D1-55A2B018BC90}"/>
              </a:ext>
            </a:extLst>
          </p:cNvPr>
          <p:cNvSpPr/>
          <p:nvPr/>
        </p:nvSpPr>
        <p:spPr>
          <a:xfrm>
            <a:off x="9180576" y="2029968"/>
            <a:ext cx="2852928" cy="2560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E50B67-BB24-B996-170C-CF3D6879E7B3}"/>
              </a:ext>
            </a:extLst>
          </p:cNvPr>
          <p:cNvSpPr/>
          <p:nvPr/>
        </p:nvSpPr>
        <p:spPr>
          <a:xfrm>
            <a:off x="9180576" y="2029968"/>
            <a:ext cx="2852928" cy="566928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CAB6ED-6651-BC30-BB57-B6A0F6BEEF9F}"/>
              </a:ext>
            </a:extLst>
          </p:cNvPr>
          <p:cNvSpPr txBox="1"/>
          <p:nvPr/>
        </p:nvSpPr>
        <p:spPr>
          <a:xfrm>
            <a:off x="9290304" y="2084831"/>
            <a:ext cx="267004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MCP SERVER #4
Calendar (ext)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B05C6-6C2F-8E9C-F0D1-3B132F88C411}"/>
              </a:ext>
            </a:extLst>
          </p:cNvPr>
          <p:cNvSpPr txBox="1"/>
          <p:nvPr/>
        </p:nvSpPr>
        <p:spPr>
          <a:xfrm>
            <a:off x="9290304" y="2651760"/>
            <a:ext cx="2670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94A3B8"/>
                </a:solidFill>
              </a:rPr>
              <a:t>StreamableHTTP</a:t>
            </a:r>
            <a:r>
              <a:rPr sz="1000" b="0" i="1" dirty="0">
                <a:solidFill>
                  <a:srgbClr val="94A3B8"/>
                </a:solidFill>
              </a:rPr>
              <a:t> (HTTPS)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8B87E0-A27B-64AE-EA55-CD35746A4E1F}"/>
              </a:ext>
            </a:extLst>
          </p:cNvPr>
          <p:cNvSpPr txBox="1"/>
          <p:nvPr/>
        </p:nvSpPr>
        <p:spPr>
          <a:xfrm>
            <a:off x="9290304" y="2880360"/>
            <a:ext cx="26700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</a:rPr>
              <a:t>• </a:t>
            </a:r>
            <a:r>
              <a:rPr sz="1000" b="0" i="0" dirty="0" err="1">
                <a:solidFill>
                  <a:srgbClr val="475569"/>
                </a:solidFill>
              </a:rPr>
              <a:t>create_event</a:t>
            </a:r>
            <a:r>
              <a:rPr sz="1000" b="0" i="0" dirty="0">
                <a:solidFill>
                  <a:srgbClr val="475569"/>
                </a:solidFill>
              </a:rPr>
              <a:t>  →  summary, start/end, attendees
• </a:t>
            </a:r>
            <a:r>
              <a:rPr sz="1000" b="0" i="0" dirty="0" err="1">
                <a:solidFill>
                  <a:srgbClr val="475569"/>
                </a:solidFill>
              </a:rPr>
              <a:t>meet_link</a:t>
            </a:r>
            <a:r>
              <a:rPr sz="1000" b="0" i="0" dirty="0">
                <a:solidFill>
                  <a:srgbClr val="475569"/>
                </a:solidFill>
              </a:rPr>
              <a:t> embedded in event
• Swap URL in admin  →  zero code change
• Google Calendar or any MCP calendar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DD818E-DD33-BF2F-563B-088E680921A7}"/>
              </a:ext>
            </a:extLst>
          </p:cNvPr>
          <p:cNvSpPr/>
          <p:nvPr/>
        </p:nvSpPr>
        <p:spPr>
          <a:xfrm>
            <a:off x="341528" y="4604565"/>
            <a:ext cx="3773272" cy="18928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FABC89-2653-4CAF-912F-FD9077D9569F}"/>
              </a:ext>
            </a:extLst>
          </p:cNvPr>
          <p:cNvSpPr txBox="1"/>
          <p:nvPr/>
        </p:nvSpPr>
        <p:spPr>
          <a:xfrm>
            <a:off x="3770949" y="4246578"/>
            <a:ext cx="3545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70C0"/>
                </a:solidFill>
              </a:rPr>
              <a:t>AI</a:t>
            </a:r>
            <a:r>
              <a:rPr sz="900" b="1" i="0" dirty="0">
                <a:solidFill>
                  <a:srgbClr val="0070C0"/>
                </a:solidFill>
              </a:rPr>
              <a:t> </a:t>
            </a:r>
            <a:r>
              <a:rPr sz="1000" b="1" i="0" dirty="0">
                <a:solidFill>
                  <a:srgbClr val="0070C0"/>
                </a:solidFill>
              </a:rPr>
              <a:t>MODELS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51367F-9AEA-875F-EBEC-080DC404EA87}"/>
              </a:ext>
            </a:extLst>
          </p:cNvPr>
          <p:cNvSpPr txBox="1"/>
          <p:nvPr/>
        </p:nvSpPr>
        <p:spPr>
          <a:xfrm>
            <a:off x="478688" y="4915461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293B"/>
                </a:solidFill>
              </a:rPr>
              <a:t>Groq llama-3.3-70b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6E2455-2431-7A5C-B75F-CDF29E944330}"/>
              </a:ext>
            </a:extLst>
          </p:cNvPr>
          <p:cNvSpPr txBox="1"/>
          <p:nvPr/>
        </p:nvSpPr>
        <p:spPr>
          <a:xfrm>
            <a:off x="1896008" y="4915461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Resume scoring  ·  Interviewer ranking  ·  Slot selection  ·  Auto-match LLM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C112AB-BF61-52A7-B6E7-7C03F8CA1744}"/>
              </a:ext>
            </a:extLst>
          </p:cNvPr>
          <p:cNvSpPr txBox="1"/>
          <p:nvPr/>
        </p:nvSpPr>
        <p:spPr>
          <a:xfrm>
            <a:off x="478688" y="5262933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293B"/>
                </a:solidFill>
              </a:rPr>
              <a:t>Groq Whisper v3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B335A3-FC35-7C0E-4337-AF7FDD10BC0F}"/>
              </a:ext>
            </a:extLst>
          </p:cNvPr>
          <p:cNvSpPr txBox="1"/>
          <p:nvPr/>
        </p:nvSpPr>
        <p:spPr>
          <a:xfrm>
            <a:off x="1896008" y="5262933"/>
            <a:ext cx="20912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Audio → transcript from candidate video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D2CB3D-9B4B-578D-F17F-E2301672C444}"/>
              </a:ext>
            </a:extLst>
          </p:cNvPr>
          <p:cNvSpPr txBox="1"/>
          <p:nvPr/>
        </p:nvSpPr>
        <p:spPr>
          <a:xfrm>
            <a:off x="478688" y="5610405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293B"/>
                </a:solidFill>
              </a:rPr>
              <a:t>Gemini 2.5 Flash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9C5B90-B134-2807-45CE-E3635B6AD9FA}"/>
              </a:ext>
            </a:extLst>
          </p:cNvPr>
          <p:cNvSpPr txBox="1"/>
          <p:nvPr/>
        </p:nvSpPr>
        <p:spPr>
          <a:xfrm>
            <a:off x="1896008" y="5610405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475569"/>
                </a:solidFill>
              </a:rPr>
              <a:t>english_score</a:t>
            </a:r>
            <a:r>
              <a:rPr sz="900" b="0" i="0" dirty="0">
                <a:solidFill>
                  <a:srgbClr val="475569"/>
                </a:solidFill>
              </a:rPr>
              <a:t> · </a:t>
            </a:r>
            <a:r>
              <a:rPr sz="900" b="0" i="0" dirty="0" err="1">
                <a:solidFill>
                  <a:srgbClr val="475569"/>
                </a:solidFill>
              </a:rPr>
              <a:t>confidence_score</a:t>
            </a:r>
            <a:r>
              <a:rPr sz="900" b="0" i="0" dirty="0">
                <a:solidFill>
                  <a:srgbClr val="475569"/>
                </a:solidFill>
              </a:rPr>
              <a:t> · skills[] · </a:t>
            </a:r>
            <a:r>
              <a:rPr sz="900" b="0" i="0" dirty="0" err="1">
                <a:solidFill>
                  <a:srgbClr val="475569"/>
                </a:solidFill>
              </a:rPr>
              <a:t>video_summary</a:t>
            </a:r>
            <a:endParaRPr sz="900" b="0" i="0" dirty="0">
              <a:solidFill>
                <a:srgbClr val="475569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85E0A4-492C-8B41-E2CB-786D1DA338B6}"/>
              </a:ext>
            </a:extLst>
          </p:cNvPr>
          <p:cNvSpPr txBox="1"/>
          <p:nvPr/>
        </p:nvSpPr>
        <p:spPr>
          <a:xfrm>
            <a:off x="478688" y="5957877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 err="1">
                <a:solidFill>
                  <a:srgbClr val="1E293B"/>
                </a:solidFill>
              </a:rPr>
              <a:t>Ollama</a:t>
            </a:r>
            <a:r>
              <a:rPr sz="900" b="1" i="0" dirty="0">
                <a:solidFill>
                  <a:srgbClr val="1E293B"/>
                </a:solidFill>
              </a:rPr>
              <a:t> nomic-embed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F8FA91-6609-5F60-F484-59C49EE0EA83}"/>
              </a:ext>
            </a:extLst>
          </p:cNvPr>
          <p:cNvSpPr txBox="1"/>
          <p:nvPr/>
        </p:nvSpPr>
        <p:spPr>
          <a:xfrm>
            <a:off x="1896008" y="5957877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768-dim embeddings for </a:t>
            </a:r>
            <a:r>
              <a:rPr sz="900" b="0" i="0" dirty="0" err="1">
                <a:solidFill>
                  <a:srgbClr val="475569"/>
                </a:solidFill>
              </a:rPr>
              <a:t>pgvector</a:t>
            </a:r>
            <a:r>
              <a:rPr sz="900" b="0" i="0" dirty="0">
                <a:solidFill>
                  <a:srgbClr val="475569"/>
                </a:solidFill>
              </a:rPr>
              <a:t> RAG  ·  localhost:11434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D2BD39-EDF1-D0F6-6B69-0204B7C476E2}"/>
              </a:ext>
            </a:extLst>
          </p:cNvPr>
          <p:cNvSpPr/>
          <p:nvPr/>
        </p:nvSpPr>
        <p:spPr>
          <a:xfrm>
            <a:off x="4300880" y="4604565"/>
            <a:ext cx="3773272" cy="18928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DD218C-BA86-A15F-432F-2B8F0FA206D7}"/>
              </a:ext>
            </a:extLst>
          </p:cNvPr>
          <p:cNvSpPr txBox="1"/>
          <p:nvPr/>
        </p:nvSpPr>
        <p:spPr>
          <a:xfrm>
            <a:off x="4082377" y="4089606"/>
            <a:ext cx="3545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70C0"/>
                </a:solidFill>
              </a:rPr>
              <a:t>DATA</a:t>
            </a:r>
            <a:r>
              <a:rPr sz="900" b="1" i="0" dirty="0">
                <a:solidFill>
                  <a:srgbClr val="0070C0"/>
                </a:solidFill>
              </a:rPr>
              <a:t> LAYER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D33ADB-2A90-380D-1A38-8CEC4D4D7B42}"/>
              </a:ext>
            </a:extLst>
          </p:cNvPr>
          <p:cNvSpPr txBox="1"/>
          <p:nvPr/>
        </p:nvSpPr>
        <p:spPr>
          <a:xfrm>
            <a:off x="4438040" y="4915461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293B"/>
                </a:solidFill>
              </a:rPr>
              <a:t>PostgreSQL + </a:t>
            </a:r>
            <a:r>
              <a:rPr sz="900" b="1" i="0" dirty="0" err="1">
                <a:solidFill>
                  <a:srgbClr val="1E293B"/>
                </a:solidFill>
              </a:rPr>
              <a:t>pgvector</a:t>
            </a:r>
            <a:endParaRPr sz="900" b="1" i="0" dirty="0">
              <a:solidFill>
                <a:srgbClr val="1E293B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3353AA-C1C7-ACD6-CAAF-D2F08D95AEC0}"/>
              </a:ext>
            </a:extLst>
          </p:cNvPr>
          <p:cNvSpPr txBox="1"/>
          <p:nvPr/>
        </p:nvSpPr>
        <p:spPr>
          <a:xfrm>
            <a:off x="5855360" y="4915461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11 tables  ·  cosine similarity (&lt;=&gt;)  ·  vector(768)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33225F-6003-C229-E354-13A261EBDDAA}"/>
              </a:ext>
            </a:extLst>
          </p:cNvPr>
          <p:cNvSpPr txBox="1"/>
          <p:nvPr/>
        </p:nvSpPr>
        <p:spPr>
          <a:xfrm>
            <a:off x="4438040" y="5262933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 err="1">
                <a:solidFill>
                  <a:srgbClr val="1E293B"/>
                </a:solidFill>
              </a:rPr>
              <a:t>PostgresSaver</a:t>
            </a:r>
            <a:endParaRPr sz="900" b="1" i="0" dirty="0">
              <a:solidFill>
                <a:srgbClr val="1E293B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951CC2-816F-56A2-708D-931AEAFEDD69}"/>
              </a:ext>
            </a:extLst>
          </p:cNvPr>
          <p:cNvSpPr txBox="1"/>
          <p:nvPr/>
        </p:nvSpPr>
        <p:spPr>
          <a:xfrm>
            <a:off x="5855360" y="5262933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475569"/>
                </a:solidFill>
              </a:rPr>
              <a:t>LangGraph</a:t>
            </a:r>
            <a:r>
              <a:rPr sz="900" b="0" i="0" dirty="0">
                <a:solidFill>
                  <a:srgbClr val="475569"/>
                </a:solidFill>
              </a:rPr>
              <a:t> checkpoint keyed by </a:t>
            </a:r>
            <a:r>
              <a:rPr sz="900" b="0" i="0" dirty="0" err="1">
                <a:solidFill>
                  <a:srgbClr val="475569"/>
                </a:solidFill>
              </a:rPr>
              <a:t>thread_id</a:t>
            </a:r>
            <a:r>
              <a:rPr sz="900" b="0" i="0" dirty="0">
                <a:solidFill>
                  <a:srgbClr val="475569"/>
                </a:solidFill>
              </a:rPr>
              <a:t>  ·  fallback </a:t>
            </a:r>
            <a:r>
              <a:rPr sz="900" b="0" i="0" dirty="0" err="1">
                <a:solidFill>
                  <a:srgbClr val="475569"/>
                </a:solidFill>
              </a:rPr>
              <a:t>MemorySaver</a:t>
            </a:r>
            <a:endParaRPr sz="900" b="0" i="0" dirty="0">
              <a:solidFill>
                <a:srgbClr val="475569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15DB86-C505-7DCD-4B1C-322C4CB5AC85}"/>
              </a:ext>
            </a:extLst>
          </p:cNvPr>
          <p:cNvSpPr txBox="1"/>
          <p:nvPr/>
        </p:nvSpPr>
        <p:spPr>
          <a:xfrm>
            <a:off x="4438040" y="5610405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293B"/>
                </a:solidFill>
              </a:rPr>
              <a:t>connect-</a:t>
            </a:r>
            <a:r>
              <a:rPr sz="900" b="1" i="0" dirty="0" err="1">
                <a:solidFill>
                  <a:srgbClr val="1E293B"/>
                </a:solidFill>
              </a:rPr>
              <a:t>pg</a:t>
            </a:r>
            <a:r>
              <a:rPr sz="900" b="1" i="0" dirty="0">
                <a:solidFill>
                  <a:srgbClr val="1E293B"/>
                </a:solidFill>
              </a:rPr>
              <a:t>-simple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B0106B-4995-FA47-34DB-CB24592388E0}"/>
              </a:ext>
            </a:extLst>
          </p:cNvPr>
          <p:cNvSpPr txBox="1"/>
          <p:nvPr/>
        </p:nvSpPr>
        <p:spPr>
          <a:xfrm>
            <a:off x="5855360" y="5610405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Express sessions stored in DB (sessions table)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066B97-DFE1-E997-B503-CFB3DA186234}"/>
              </a:ext>
            </a:extLst>
          </p:cNvPr>
          <p:cNvSpPr txBox="1"/>
          <p:nvPr/>
        </p:nvSpPr>
        <p:spPr>
          <a:xfrm>
            <a:off x="4438040" y="5957877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 err="1">
                <a:solidFill>
                  <a:srgbClr val="1E293B"/>
                </a:solidFill>
              </a:rPr>
              <a:t>pg</a:t>
            </a:r>
            <a:r>
              <a:rPr sz="900" b="1" i="0" dirty="0">
                <a:solidFill>
                  <a:srgbClr val="1E293B"/>
                </a:solidFill>
              </a:rPr>
              <a:t> pool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E5815F-F58D-F94F-D3A0-1B7CCF9F1158}"/>
              </a:ext>
            </a:extLst>
          </p:cNvPr>
          <p:cNvSpPr txBox="1"/>
          <p:nvPr/>
        </p:nvSpPr>
        <p:spPr>
          <a:xfrm>
            <a:off x="5855360" y="5957877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8 connections  ·  docker: </a:t>
            </a:r>
            <a:r>
              <a:rPr sz="900" b="0" i="0" dirty="0" err="1">
                <a:solidFill>
                  <a:srgbClr val="475569"/>
                </a:solidFill>
              </a:rPr>
              <a:t>pgvector</a:t>
            </a:r>
            <a:r>
              <a:rPr sz="900" b="0" i="0" dirty="0">
                <a:solidFill>
                  <a:srgbClr val="475569"/>
                </a:solidFill>
              </a:rPr>
              <a:t>/pgvector:pg16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275545-692C-6A58-2B84-FF8C74BDBACC}"/>
              </a:ext>
            </a:extLst>
          </p:cNvPr>
          <p:cNvSpPr/>
          <p:nvPr/>
        </p:nvSpPr>
        <p:spPr>
          <a:xfrm>
            <a:off x="8260232" y="4604565"/>
            <a:ext cx="3773272" cy="18928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165C21-B764-B311-4B23-9C473D4DC480}"/>
              </a:ext>
            </a:extLst>
          </p:cNvPr>
          <p:cNvSpPr txBox="1"/>
          <p:nvPr/>
        </p:nvSpPr>
        <p:spPr>
          <a:xfrm>
            <a:off x="8397392" y="4915461"/>
            <a:ext cx="1363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293B"/>
                </a:solidFill>
              </a:rPr>
              <a:t>Gmail SMTP (</a:t>
            </a:r>
            <a:r>
              <a:rPr sz="900" b="1" i="0" dirty="0" err="1">
                <a:solidFill>
                  <a:srgbClr val="1E293B"/>
                </a:solidFill>
              </a:rPr>
              <a:t>Nodemailer</a:t>
            </a:r>
            <a:r>
              <a:rPr sz="900" b="1" i="0" dirty="0">
                <a:solidFill>
                  <a:srgbClr val="1E293B"/>
                </a:solidFill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740C33-CB38-A967-C88B-42A058BD00E3}"/>
              </a:ext>
            </a:extLst>
          </p:cNvPr>
          <p:cNvSpPr txBox="1"/>
          <p:nvPr/>
        </p:nvSpPr>
        <p:spPr>
          <a:xfrm>
            <a:off x="9814712" y="4915461"/>
            <a:ext cx="20912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Invite · reject · confirm · reminder emails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E8C357-7838-7937-9A5A-52F71FA5483B}"/>
              </a:ext>
            </a:extLst>
          </p:cNvPr>
          <p:cNvSpPr txBox="1"/>
          <p:nvPr/>
        </p:nvSpPr>
        <p:spPr>
          <a:xfrm>
            <a:off x="8397392" y="5262933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 err="1">
                <a:solidFill>
                  <a:srgbClr val="1E293B"/>
                </a:solidFill>
              </a:rPr>
              <a:t>sendInvitationEmail</a:t>
            </a:r>
            <a:endParaRPr sz="900" b="1" i="0" dirty="0">
              <a:solidFill>
                <a:srgbClr val="1E293B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39F994-D99E-3757-028A-20DAA083DEED}"/>
              </a:ext>
            </a:extLst>
          </p:cNvPr>
          <p:cNvSpPr txBox="1"/>
          <p:nvPr/>
        </p:nvSpPr>
        <p:spPr>
          <a:xfrm>
            <a:off x="9814712" y="5262933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Candidate gets login URL + temp password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E80A63-2AC1-537A-F877-E556158B9443}"/>
              </a:ext>
            </a:extLst>
          </p:cNvPr>
          <p:cNvSpPr txBox="1"/>
          <p:nvPr/>
        </p:nvSpPr>
        <p:spPr>
          <a:xfrm>
            <a:off x="8397392" y="5610405"/>
            <a:ext cx="1363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 err="1">
                <a:solidFill>
                  <a:srgbClr val="1E293B"/>
                </a:solidFill>
              </a:rPr>
              <a:t>sendScheduleConfirmedEmails</a:t>
            </a:r>
            <a:endParaRPr sz="900" b="1" i="0" dirty="0">
              <a:solidFill>
                <a:srgbClr val="1E293B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A3AE40-D126-6A4E-8C52-A0BFED7B0F59}"/>
              </a:ext>
            </a:extLst>
          </p:cNvPr>
          <p:cNvSpPr txBox="1"/>
          <p:nvPr/>
        </p:nvSpPr>
        <p:spPr>
          <a:xfrm>
            <a:off x="9814712" y="5610405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Both candidate + interviewer get meet link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D10129-DB52-457A-1617-527836AC7D98}"/>
              </a:ext>
            </a:extLst>
          </p:cNvPr>
          <p:cNvSpPr txBox="1"/>
          <p:nvPr/>
        </p:nvSpPr>
        <p:spPr>
          <a:xfrm>
            <a:off x="8397392" y="5957877"/>
            <a:ext cx="13638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293B"/>
                </a:solidFill>
              </a:rPr>
              <a:t>HR Alerts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151598-4DF9-C00A-49CD-F4C1CFCFCCDB}"/>
              </a:ext>
            </a:extLst>
          </p:cNvPr>
          <p:cNvSpPr txBox="1"/>
          <p:nvPr/>
        </p:nvSpPr>
        <p:spPr>
          <a:xfrm>
            <a:off x="9814712" y="5957877"/>
            <a:ext cx="209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75569"/>
                </a:solidFill>
              </a:rPr>
              <a:t>No-show · no-slots · assignment request emails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0E070A0-2DA1-E537-D20E-7D242CB2008D}"/>
              </a:ext>
            </a:extLst>
          </p:cNvPr>
          <p:cNvSpPr/>
          <p:nvPr/>
        </p:nvSpPr>
        <p:spPr>
          <a:xfrm>
            <a:off x="340004" y="4604565"/>
            <a:ext cx="3773272" cy="310896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AI MODELS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CA24964-1D50-DCD8-C91C-4F898FE1013A}"/>
              </a:ext>
            </a:extLst>
          </p:cNvPr>
          <p:cNvSpPr/>
          <p:nvPr/>
        </p:nvSpPr>
        <p:spPr>
          <a:xfrm>
            <a:off x="4300881" y="4604565"/>
            <a:ext cx="3773272" cy="3241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bg1"/>
                </a:solidFill>
              </a:rPr>
              <a:t>D</a:t>
            </a:r>
            <a:r>
              <a:rPr lang="en-IN" sz="1100" b="1" dirty="0">
                <a:solidFill>
                  <a:schemeClr val="bg1"/>
                </a:solidFill>
              </a:rPr>
              <a:t>ATA Layer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8AEC57-7F3D-031B-D6CE-7BEAC0587CC1}"/>
              </a:ext>
            </a:extLst>
          </p:cNvPr>
          <p:cNvSpPr/>
          <p:nvPr/>
        </p:nvSpPr>
        <p:spPr>
          <a:xfrm>
            <a:off x="8260232" y="4604565"/>
            <a:ext cx="3771748" cy="3241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2285097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00EAE855-8A77-3D87-280B-CD41DF00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11032"/>
            <a:ext cx="12188952" cy="68562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B3959-CD6D-4181-F43F-0F668049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94D37-2C36-CD46-CF5E-A3ACDCF22F34}"/>
              </a:ext>
            </a:extLst>
          </p:cNvPr>
          <p:cNvSpPr txBox="1"/>
          <p:nvPr/>
        </p:nvSpPr>
        <p:spPr>
          <a:xfrm>
            <a:off x="320040" y="351038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Interviewer Lifecycle &amp; Auto-Reschedule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6EC15-EA75-E555-B319-050DF0187852}"/>
              </a:ext>
            </a:extLst>
          </p:cNvPr>
          <p:cNvSpPr txBox="1"/>
          <p:nvPr/>
        </p:nvSpPr>
        <p:spPr>
          <a:xfrm>
            <a:off x="320040" y="1051560"/>
            <a:ext cx="11338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/>
              <a:t>src</a:t>
            </a:r>
            <a:r>
              <a:rPr sz="1100" b="0" i="0" dirty="0"/>
              <a:t>/routes/interviewer.js  —  token-link flows + portal with automatic fallback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3C125-DFD2-0547-214D-5936916D8363}"/>
              </a:ext>
            </a:extLst>
          </p:cNvPr>
          <p:cNvSpPr/>
          <p:nvPr/>
        </p:nvSpPr>
        <p:spPr>
          <a:xfrm>
            <a:off x="411480" y="1389888"/>
            <a:ext cx="11338560" cy="127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790DA-1BDC-397E-C76B-6B256CDBFC26}"/>
              </a:ext>
            </a:extLst>
          </p:cNvPr>
          <p:cNvSpPr txBox="1"/>
          <p:nvPr/>
        </p:nvSpPr>
        <p:spPr>
          <a:xfrm>
            <a:off x="320040" y="1521611"/>
            <a:ext cx="5623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chemeClr val="accent1"/>
                </a:solidFill>
              </a:rPr>
              <a:t>Token Security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2BCE6-4AC5-C81D-9BDA-A556BCB7D47E}"/>
              </a:ext>
            </a:extLst>
          </p:cNvPr>
          <p:cNvSpPr txBox="1"/>
          <p:nvPr/>
        </p:nvSpPr>
        <p:spPr>
          <a:xfrm>
            <a:off x="320040" y="1828343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/>
              <a:t>Each </a:t>
            </a:r>
            <a:r>
              <a:rPr sz="1100" b="0" i="0" dirty="0" err="1"/>
              <a:t>scheduled_interviews</a:t>
            </a:r>
            <a:r>
              <a:rPr sz="1100" b="0" i="0" dirty="0"/>
              <a:t> row has two unique 48-char hex tokens (</a:t>
            </a:r>
            <a:r>
              <a:rPr sz="1100" b="0" i="0" dirty="0" err="1"/>
              <a:t>candidate_token</a:t>
            </a:r>
            <a:r>
              <a:rPr sz="1100" b="0" i="0" dirty="0"/>
              <a:t> + </a:t>
            </a:r>
            <a:r>
              <a:rPr sz="1100" b="0" i="0" dirty="0" err="1"/>
              <a:t>interviewer_token</a:t>
            </a:r>
            <a:r>
              <a:rPr sz="1100" b="0" i="0" dirty="0"/>
              <a:t>). Status check prevents re-processing of already-handled tokens. No login required — token IS the credential.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B7750-0687-4749-3A10-678EB5F99692}"/>
              </a:ext>
            </a:extLst>
          </p:cNvPr>
          <p:cNvSpPr/>
          <p:nvPr/>
        </p:nvSpPr>
        <p:spPr>
          <a:xfrm>
            <a:off x="431569" y="2236811"/>
            <a:ext cx="5280664" cy="9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EA56DA-63BE-FBEC-2CE1-23B0A9898E8E}"/>
              </a:ext>
            </a:extLst>
          </p:cNvPr>
          <p:cNvSpPr/>
          <p:nvPr/>
        </p:nvSpPr>
        <p:spPr>
          <a:xfrm>
            <a:off x="449686" y="3226143"/>
            <a:ext cx="5280664" cy="917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AB770E-326D-059B-DA13-55D98DB7DD66}"/>
              </a:ext>
            </a:extLst>
          </p:cNvPr>
          <p:cNvSpPr/>
          <p:nvPr/>
        </p:nvSpPr>
        <p:spPr>
          <a:xfrm>
            <a:off x="403969" y="4231984"/>
            <a:ext cx="5311140" cy="934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57205A-4B8D-493A-4886-660AF06CA418}"/>
              </a:ext>
            </a:extLst>
          </p:cNvPr>
          <p:cNvSpPr/>
          <p:nvPr/>
        </p:nvSpPr>
        <p:spPr>
          <a:xfrm>
            <a:off x="419100" y="2233002"/>
            <a:ext cx="45719" cy="920694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892E2A-21C7-7B4B-D783-BFC8F17D5751}"/>
              </a:ext>
            </a:extLst>
          </p:cNvPr>
          <p:cNvSpPr/>
          <p:nvPr/>
        </p:nvSpPr>
        <p:spPr>
          <a:xfrm>
            <a:off x="419211" y="3226143"/>
            <a:ext cx="45719" cy="91720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3EB08B-9899-1958-CA6A-7D8C4CF46926}"/>
              </a:ext>
            </a:extLst>
          </p:cNvPr>
          <p:cNvSpPr/>
          <p:nvPr/>
        </p:nvSpPr>
        <p:spPr>
          <a:xfrm>
            <a:off x="403968" y="4231984"/>
            <a:ext cx="45719" cy="93457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65FF4E-CC36-17B3-E133-E88C9C315B5B}"/>
              </a:ext>
            </a:extLst>
          </p:cNvPr>
          <p:cNvSpPr txBox="1"/>
          <p:nvPr/>
        </p:nvSpPr>
        <p:spPr>
          <a:xfrm>
            <a:off x="469373" y="2383159"/>
            <a:ext cx="5001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accent1"/>
                </a:solidFill>
              </a:rPr>
              <a:t>Slot Liberation on Decline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8D561C-6109-A26B-90C5-0B1A86F40FBC}"/>
              </a:ext>
            </a:extLst>
          </p:cNvPr>
          <p:cNvSpPr txBox="1"/>
          <p:nvPr/>
        </p:nvSpPr>
        <p:spPr>
          <a:xfrm>
            <a:off x="449687" y="2617400"/>
            <a:ext cx="5013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When interviewer declines, slot is immediately returned to 'available'. This ensures the auto-reschedule attempt can find it for a different candidate without any manual intervention.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43F14C-EC7C-842A-EC55-33A1E500C16E}"/>
              </a:ext>
            </a:extLst>
          </p:cNvPr>
          <p:cNvSpPr/>
          <p:nvPr/>
        </p:nvSpPr>
        <p:spPr>
          <a:xfrm>
            <a:off x="403968" y="5237823"/>
            <a:ext cx="5311140" cy="9345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A33A48-ECC2-9293-F897-73E2D68381DE}"/>
              </a:ext>
            </a:extLst>
          </p:cNvPr>
          <p:cNvSpPr/>
          <p:nvPr/>
        </p:nvSpPr>
        <p:spPr>
          <a:xfrm>
            <a:off x="403967" y="5237823"/>
            <a:ext cx="45719" cy="934572"/>
          </a:xfrm>
          <a:prstGeom prst="rect">
            <a:avLst/>
          </a:prstGeom>
          <a:solidFill>
            <a:schemeClr val="accent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D1E8AF-95E1-BD52-68CA-5805462BB206}"/>
              </a:ext>
            </a:extLst>
          </p:cNvPr>
          <p:cNvSpPr txBox="1"/>
          <p:nvPr/>
        </p:nvSpPr>
        <p:spPr>
          <a:xfrm>
            <a:off x="469373" y="5352923"/>
            <a:ext cx="51057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accent2"/>
                </a:solidFill>
              </a:rPr>
              <a:t>Interviewer Portal &amp; OTP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6DC4B7-BCBC-3A66-4BEB-F35CBE80A3F6}"/>
              </a:ext>
            </a:extLst>
          </p:cNvPr>
          <p:cNvSpPr txBox="1"/>
          <p:nvPr/>
        </p:nvSpPr>
        <p:spPr>
          <a:xfrm>
            <a:off x="469373" y="5608955"/>
            <a:ext cx="5169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Interviewers log in via OTP email (/interviewer/login). They manage single, multi-slot, or weekly-recurring availability. Slots marked 'blocked' are never offered to candidates.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9C7322-EEA2-7F83-EFD0-0BF40B97465B}"/>
              </a:ext>
            </a:extLst>
          </p:cNvPr>
          <p:cNvSpPr txBox="1"/>
          <p:nvPr/>
        </p:nvSpPr>
        <p:spPr>
          <a:xfrm>
            <a:off x="493887" y="4437813"/>
            <a:ext cx="51450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accent5"/>
                </a:solidFill>
              </a:rPr>
              <a:t>No-Slots Alert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50B00E-B122-D2CA-7661-BC80C1DB63C5}"/>
              </a:ext>
            </a:extLst>
          </p:cNvPr>
          <p:cNvSpPr txBox="1"/>
          <p:nvPr/>
        </p:nvSpPr>
        <p:spPr>
          <a:xfrm>
            <a:off x="493887" y="4693845"/>
            <a:ext cx="5081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If auto-reschedule returns { reason: '</a:t>
            </a:r>
            <a:r>
              <a:rPr sz="1000" b="0" i="0" dirty="0" err="1"/>
              <a:t>no_slots</a:t>
            </a:r>
            <a:r>
              <a:rPr sz="1000" b="0" i="0" dirty="0"/>
              <a:t>' }, </a:t>
            </a:r>
            <a:r>
              <a:rPr sz="1000" b="0" i="0" dirty="0" err="1"/>
              <a:t>sendAdminNoSlotsAlert</a:t>
            </a:r>
            <a:r>
              <a:rPr sz="1000" b="0" i="0" dirty="0"/>
              <a:t>() fires immediately so HR knows to add interviewer availability before the candidate times out.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C72311-B66C-DF33-2550-FF11CEF28267}"/>
              </a:ext>
            </a:extLst>
          </p:cNvPr>
          <p:cNvSpPr txBox="1"/>
          <p:nvPr/>
        </p:nvSpPr>
        <p:spPr>
          <a:xfrm>
            <a:off x="493887" y="3326018"/>
            <a:ext cx="51450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chemeClr val="accent2"/>
                </a:solidFill>
              </a:rPr>
              <a:t>Auto-Reschedule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392363-A506-CBEB-2F20-C3BF56D0E7D5}"/>
              </a:ext>
            </a:extLst>
          </p:cNvPr>
          <p:cNvSpPr txBox="1"/>
          <p:nvPr/>
        </p:nvSpPr>
        <p:spPr>
          <a:xfrm>
            <a:off x="493887" y="3582050"/>
            <a:ext cx="5081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/>
              <a:t>Both the token route and the portal route trigger </a:t>
            </a:r>
            <a:r>
              <a:rPr sz="1000" b="0" i="0" dirty="0" err="1"/>
              <a:t>autoAssignAndConfirmCandidate</a:t>
            </a:r>
            <a:r>
              <a:rPr sz="1000" b="0" i="0" dirty="0"/>
              <a:t>() on decline. Candidate is rescheduled to the next best AI-ranked slot with zero manual steps.</a:t>
            </a:r>
          </a:p>
        </p:txBody>
      </p:sp>
    </p:spTree>
    <p:extLst>
      <p:ext uri="{BB962C8B-B14F-4D97-AF65-F5344CB8AC3E}">
        <p14:creationId xmlns:p14="http://schemas.microsoft.com/office/powerpoint/2010/main" val="4029527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A73FF7-159F-B3CD-1539-C8768B01D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856"/>
            <a:ext cx="12190474" cy="68571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42BFC4-EF8F-EDEC-D4AD-FC1CF00C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9E128-0B32-6DE4-7FCD-D41A98873421}"/>
              </a:ext>
            </a:extLst>
          </p:cNvPr>
          <p:cNvSpPr txBox="1"/>
          <p:nvPr/>
        </p:nvSpPr>
        <p:spPr>
          <a:xfrm>
            <a:off x="320040" y="339451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/>
              <a:t>Architecture Diagram vs Code Flow — Confirmation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1CED18-904B-23EF-4C5C-E21B386F9738}"/>
              </a:ext>
            </a:extLst>
          </p:cNvPr>
          <p:cNvSpPr/>
          <p:nvPr/>
        </p:nvSpPr>
        <p:spPr>
          <a:xfrm>
            <a:off x="441960" y="1200079"/>
            <a:ext cx="4937760" cy="2743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82907-ADA6-7278-EB04-C84130E3B168}"/>
              </a:ext>
            </a:extLst>
          </p:cNvPr>
          <p:cNvSpPr txBox="1"/>
          <p:nvPr/>
        </p:nvSpPr>
        <p:spPr>
          <a:xfrm>
            <a:off x="487680" y="1200079"/>
            <a:ext cx="4846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Architecture Element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BBA938-083A-EEBB-C72C-F7A71BCBFED4}"/>
              </a:ext>
            </a:extLst>
          </p:cNvPr>
          <p:cNvSpPr/>
          <p:nvPr/>
        </p:nvSpPr>
        <p:spPr>
          <a:xfrm>
            <a:off x="5425440" y="1200079"/>
            <a:ext cx="4572000" cy="2743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73A879-D33E-2742-2997-99788CBB1CF1}"/>
              </a:ext>
            </a:extLst>
          </p:cNvPr>
          <p:cNvSpPr txBox="1"/>
          <p:nvPr/>
        </p:nvSpPr>
        <p:spPr>
          <a:xfrm>
            <a:off x="5471160" y="1200079"/>
            <a:ext cx="4480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Code Location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FB38A7-5035-705A-F42B-518BE87F30A0}"/>
              </a:ext>
            </a:extLst>
          </p:cNvPr>
          <p:cNvSpPr/>
          <p:nvPr/>
        </p:nvSpPr>
        <p:spPr>
          <a:xfrm>
            <a:off x="10043160" y="1200079"/>
            <a:ext cx="914400" cy="274320"/>
          </a:xfrm>
          <a:prstGeom prst="rect">
            <a:avLst/>
          </a:prstGeom>
          <a:solidFill>
            <a:schemeClr val="accent1"/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34BC5-B94D-FD23-FAD1-64027B7A92FF}"/>
              </a:ext>
            </a:extLst>
          </p:cNvPr>
          <p:cNvSpPr txBox="1"/>
          <p:nvPr/>
        </p:nvSpPr>
        <p:spPr>
          <a:xfrm>
            <a:off x="10088880" y="1200079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/>
              <a:t>Status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627ED5-D1A7-0F72-4377-4E96F65FE5D5}"/>
              </a:ext>
            </a:extLst>
          </p:cNvPr>
          <p:cNvSpPr/>
          <p:nvPr/>
        </p:nvSpPr>
        <p:spPr>
          <a:xfrm>
            <a:off x="441960" y="1501830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590AA6-3812-0547-29E4-B4C461D8AE30}"/>
              </a:ext>
            </a:extLst>
          </p:cNvPr>
          <p:cNvSpPr txBox="1"/>
          <p:nvPr/>
        </p:nvSpPr>
        <p:spPr>
          <a:xfrm>
            <a:off x="505968" y="1547550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 dirty="0"/>
              <a:t>CV Web Upload → POST /upload → Express.js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7C1991-F608-1F47-3E7B-AA7CF7C4936C}"/>
              </a:ext>
            </a:extLst>
          </p:cNvPr>
          <p:cNvSpPr/>
          <p:nvPr/>
        </p:nvSpPr>
        <p:spPr>
          <a:xfrm>
            <a:off x="5425440" y="1501830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A63E1F-9083-56E8-51B6-74EFA398FE11}"/>
              </a:ext>
            </a:extLst>
          </p:cNvPr>
          <p:cNvSpPr txBox="1"/>
          <p:nvPr/>
        </p:nvSpPr>
        <p:spPr>
          <a:xfrm>
            <a:off x="5489448" y="1547550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/routes/upload.js  +  </a:t>
            </a:r>
            <a:r>
              <a:rPr sz="900" b="0" i="0" dirty="0" err="1"/>
              <a:t>src</a:t>
            </a:r>
            <a:r>
              <a:rPr sz="900" b="0" i="0" dirty="0"/>
              <a:t>/app.js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4C32CA-5736-B041-B04B-0700C486107A}"/>
              </a:ext>
            </a:extLst>
          </p:cNvPr>
          <p:cNvSpPr/>
          <p:nvPr/>
        </p:nvSpPr>
        <p:spPr>
          <a:xfrm>
            <a:off x="10043160" y="1501830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14CD07-C9AB-98C5-E5B2-913223051DC0}"/>
              </a:ext>
            </a:extLst>
          </p:cNvPr>
          <p:cNvSpPr txBox="1"/>
          <p:nvPr/>
        </p:nvSpPr>
        <p:spPr>
          <a:xfrm>
            <a:off x="10107168" y="1547550"/>
            <a:ext cx="804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1" i="0" dirty="0"/>
              <a:t>EXACT</a:t>
            </a:r>
            <a:endParaRPr sz="900" b="1" i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091832-818C-78FF-FB90-06BF68B88268}"/>
              </a:ext>
            </a:extLst>
          </p:cNvPr>
          <p:cNvSpPr/>
          <p:nvPr/>
        </p:nvSpPr>
        <p:spPr>
          <a:xfrm>
            <a:off x="441960" y="1803582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92D32-F485-792B-B8DB-F84B0B5AE40F}"/>
              </a:ext>
            </a:extLst>
          </p:cNvPr>
          <p:cNvSpPr txBox="1"/>
          <p:nvPr/>
        </p:nvSpPr>
        <p:spPr>
          <a:xfrm>
            <a:off x="505968" y="1849302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 dirty="0"/>
              <a:t>IMAP Email Ingest → Email Ingest Worker → /</a:t>
            </a:r>
            <a:r>
              <a:rPr sz="900" i="0" dirty="0" err="1"/>
              <a:t>cvs</a:t>
            </a:r>
            <a:r>
              <a:rPr sz="900" i="0" dirty="0"/>
              <a:t>/auto/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5E918E-12FC-F403-1B8D-F5E5C6DCE3C9}"/>
              </a:ext>
            </a:extLst>
          </p:cNvPr>
          <p:cNvSpPr/>
          <p:nvPr/>
        </p:nvSpPr>
        <p:spPr>
          <a:xfrm>
            <a:off x="5425440" y="1803582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BD4D4B-2538-669C-89F9-DC7AB76904C0}"/>
              </a:ext>
            </a:extLst>
          </p:cNvPr>
          <p:cNvSpPr txBox="1"/>
          <p:nvPr/>
        </p:nvSpPr>
        <p:spPr>
          <a:xfrm>
            <a:off x="5489448" y="1849302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/services/email-ingest.js  +  watcher.js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5A4D5-21AA-AE25-3A4A-8FAD53B96708}"/>
              </a:ext>
            </a:extLst>
          </p:cNvPr>
          <p:cNvSpPr/>
          <p:nvPr/>
        </p:nvSpPr>
        <p:spPr>
          <a:xfrm>
            <a:off x="10043160" y="1803582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8B44C6-3894-F01E-2512-B51A72A4E531}"/>
              </a:ext>
            </a:extLst>
          </p:cNvPr>
          <p:cNvSpPr txBox="1"/>
          <p:nvPr/>
        </p:nvSpPr>
        <p:spPr>
          <a:xfrm>
            <a:off x="10107168" y="1849302"/>
            <a:ext cx="804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/>
              <a:t>EXACT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6167BA-FFF7-DFA6-FE80-96066DB9093E}"/>
              </a:ext>
            </a:extLst>
          </p:cNvPr>
          <p:cNvSpPr/>
          <p:nvPr/>
        </p:nvSpPr>
        <p:spPr>
          <a:xfrm>
            <a:off x="441960" y="2105334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B82229-B5E9-108F-85E8-B21FA5BA1229}"/>
              </a:ext>
            </a:extLst>
          </p:cNvPr>
          <p:cNvSpPr txBox="1"/>
          <p:nvPr/>
        </p:nvSpPr>
        <p:spPr>
          <a:xfrm>
            <a:off x="505968" y="2151054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 dirty="0"/>
              <a:t>Admin Dashboard → JSON POST /admin/trigger → File Watcher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2BE027-41DD-10A7-CB46-AC5026B8A088}"/>
              </a:ext>
            </a:extLst>
          </p:cNvPr>
          <p:cNvSpPr/>
          <p:nvPr/>
        </p:nvSpPr>
        <p:spPr>
          <a:xfrm>
            <a:off x="5425440" y="2105334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D0D41A-0EC6-CF2B-EF9B-7130B6E4EAFC}"/>
              </a:ext>
            </a:extLst>
          </p:cNvPr>
          <p:cNvSpPr txBox="1"/>
          <p:nvPr/>
        </p:nvSpPr>
        <p:spPr>
          <a:xfrm>
            <a:off x="5489448" y="2151054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/routes/admin.js  +  </a:t>
            </a:r>
            <a:r>
              <a:rPr sz="900" b="0" i="0" dirty="0" err="1"/>
              <a:t>src</a:t>
            </a:r>
            <a:r>
              <a:rPr sz="900" b="0" i="0" dirty="0"/>
              <a:t>/services/watcher.js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06A26F-0BE2-F283-6468-8B1C70887A50}"/>
              </a:ext>
            </a:extLst>
          </p:cNvPr>
          <p:cNvSpPr/>
          <p:nvPr/>
        </p:nvSpPr>
        <p:spPr>
          <a:xfrm>
            <a:off x="10043160" y="2105334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9B89FF-58B2-1DA4-B817-1DBC4EAE9877}"/>
              </a:ext>
            </a:extLst>
          </p:cNvPr>
          <p:cNvSpPr txBox="1"/>
          <p:nvPr/>
        </p:nvSpPr>
        <p:spPr>
          <a:xfrm>
            <a:off x="10107168" y="2151054"/>
            <a:ext cx="804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/>
              <a:t>EXACT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3D26E9-3FBD-C46B-0107-6D77B4092E49}"/>
              </a:ext>
            </a:extLst>
          </p:cNvPr>
          <p:cNvSpPr/>
          <p:nvPr/>
        </p:nvSpPr>
        <p:spPr>
          <a:xfrm>
            <a:off x="441960" y="2407086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FB9FB7-BFA1-E976-2718-F487CD97CB8A}"/>
              </a:ext>
            </a:extLst>
          </p:cNvPr>
          <p:cNvSpPr txBox="1"/>
          <p:nvPr/>
        </p:nvSpPr>
        <p:spPr>
          <a:xfrm>
            <a:off x="505968" y="2452806"/>
            <a:ext cx="4828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 dirty="0" err="1"/>
              <a:t>LangGraph</a:t>
            </a:r>
            <a:r>
              <a:rPr sz="900" i="0" dirty="0"/>
              <a:t> 4 nodes: </a:t>
            </a:r>
            <a:r>
              <a:rPr sz="900" i="0" dirty="0" err="1"/>
              <a:t>check_domain</a:t>
            </a:r>
            <a:r>
              <a:rPr sz="900" i="0" dirty="0"/>
              <a:t>, </a:t>
            </a:r>
            <a:r>
              <a:rPr sz="900" i="0" dirty="0" err="1"/>
              <a:t>analyze_resume</a:t>
            </a:r>
            <a:r>
              <a:rPr sz="900" i="0" dirty="0"/>
              <a:t>, </a:t>
            </a:r>
            <a:r>
              <a:rPr sz="900" i="0" dirty="0" err="1"/>
              <a:t>send_invite</a:t>
            </a:r>
            <a:r>
              <a:rPr sz="900" i="0" dirty="0"/>
              <a:t>, reject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F3638C-A5F0-05BC-92C8-64D39D4B5424}"/>
              </a:ext>
            </a:extLst>
          </p:cNvPr>
          <p:cNvSpPr/>
          <p:nvPr/>
        </p:nvSpPr>
        <p:spPr>
          <a:xfrm>
            <a:off x="5425440" y="2407086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37CC2B-E3FC-EA1A-AA06-CFDB374B3267}"/>
              </a:ext>
            </a:extLst>
          </p:cNvPr>
          <p:cNvSpPr txBox="1"/>
          <p:nvPr/>
        </p:nvSpPr>
        <p:spPr>
          <a:xfrm>
            <a:off x="5489448" y="2452806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/graph/index.js  +  </a:t>
            </a:r>
            <a:r>
              <a:rPr sz="900" b="0" i="0" dirty="0" err="1"/>
              <a:t>src</a:t>
            </a:r>
            <a:r>
              <a:rPr sz="900" b="0" i="0" dirty="0"/>
              <a:t>/graph/nodes.js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8AF7E1-0651-0DB3-BB47-06E919055BCC}"/>
              </a:ext>
            </a:extLst>
          </p:cNvPr>
          <p:cNvSpPr/>
          <p:nvPr/>
        </p:nvSpPr>
        <p:spPr>
          <a:xfrm>
            <a:off x="10043160" y="2407086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E5A8BC-D4EA-035A-6225-1248F7D1859D}"/>
              </a:ext>
            </a:extLst>
          </p:cNvPr>
          <p:cNvSpPr txBox="1"/>
          <p:nvPr/>
        </p:nvSpPr>
        <p:spPr>
          <a:xfrm>
            <a:off x="10107168" y="2452806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F9E004-0285-EFC8-A341-F7EE05E9BB10}"/>
              </a:ext>
            </a:extLst>
          </p:cNvPr>
          <p:cNvSpPr/>
          <p:nvPr/>
        </p:nvSpPr>
        <p:spPr>
          <a:xfrm>
            <a:off x="441960" y="2708838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32C54C-A04C-FAB2-394B-8EEC2F90C444}"/>
              </a:ext>
            </a:extLst>
          </p:cNvPr>
          <p:cNvSpPr txBox="1"/>
          <p:nvPr/>
        </p:nvSpPr>
        <p:spPr>
          <a:xfrm>
            <a:off x="505968" y="2754558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domainGate</a:t>
            </a:r>
            <a:r>
              <a:rPr sz="900" b="0" i="0" dirty="0"/>
              <a:t> (duplicate check) + </a:t>
            </a:r>
            <a:r>
              <a:rPr sz="900" b="0" i="0" dirty="0" err="1"/>
              <a:t>thresholdGate</a:t>
            </a:r>
            <a:r>
              <a:rPr sz="900" b="0" i="0" dirty="0"/>
              <a:t> (score vs </a:t>
            </a:r>
            <a:r>
              <a:rPr sz="900" b="0" i="0" dirty="0" err="1"/>
              <a:t>pass_threshold</a:t>
            </a:r>
            <a:r>
              <a:rPr sz="900" b="0" i="0" dirty="0"/>
              <a:t>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F85B3F-32DA-CFA7-93BF-238B48EB544D}"/>
              </a:ext>
            </a:extLst>
          </p:cNvPr>
          <p:cNvSpPr/>
          <p:nvPr/>
        </p:nvSpPr>
        <p:spPr>
          <a:xfrm>
            <a:off x="5425440" y="2708838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E3CD96-9D8B-ECD6-B437-F326C935CB56}"/>
              </a:ext>
            </a:extLst>
          </p:cNvPr>
          <p:cNvSpPr txBox="1"/>
          <p:nvPr/>
        </p:nvSpPr>
        <p:spPr>
          <a:xfrm>
            <a:off x="5489448" y="2754558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/graph/index.js:30-38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B3A0E5A-4A88-6369-FF0D-F33F1678F688}"/>
              </a:ext>
            </a:extLst>
          </p:cNvPr>
          <p:cNvSpPr/>
          <p:nvPr/>
        </p:nvSpPr>
        <p:spPr>
          <a:xfrm>
            <a:off x="10043160" y="2708838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641194-FF34-957B-A3F9-14339BB930D2}"/>
              </a:ext>
            </a:extLst>
          </p:cNvPr>
          <p:cNvSpPr txBox="1"/>
          <p:nvPr/>
        </p:nvSpPr>
        <p:spPr>
          <a:xfrm>
            <a:off x="10107168" y="2754558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40DA01D-18A1-B46D-A2A6-5AC23680BE13}"/>
              </a:ext>
            </a:extLst>
          </p:cNvPr>
          <p:cNvSpPr/>
          <p:nvPr/>
        </p:nvSpPr>
        <p:spPr>
          <a:xfrm>
            <a:off x="441960" y="3010590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0E2684-6638-6C40-A380-9D9035ACC97B}"/>
              </a:ext>
            </a:extLst>
          </p:cNvPr>
          <p:cNvSpPr txBox="1"/>
          <p:nvPr/>
        </p:nvSpPr>
        <p:spPr>
          <a:xfrm>
            <a:off x="505968" y="3056310"/>
            <a:ext cx="4828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MCP Server #1 </a:t>
            </a:r>
            <a:r>
              <a:rPr sz="900" b="0" i="0" dirty="0" err="1"/>
              <a:t>stdio</a:t>
            </a:r>
            <a:r>
              <a:rPr sz="900" b="0" i="0" dirty="0"/>
              <a:t> — </a:t>
            </a:r>
            <a:r>
              <a:rPr sz="900" b="0" i="0" dirty="0" err="1"/>
              <a:t>analyze_resume_only</a:t>
            </a:r>
            <a:r>
              <a:rPr sz="900" b="0" i="0" dirty="0"/>
              <a:t>, </a:t>
            </a:r>
            <a:r>
              <a:rPr sz="900" b="0" i="0" dirty="0" err="1"/>
              <a:t>send_invite</a:t>
            </a:r>
            <a:r>
              <a:rPr sz="900" b="0" i="0" dirty="0"/>
              <a:t>, </a:t>
            </a:r>
            <a:r>
              <a:rPr sz="900" b="0" i="0" dirty="0" err="1"/>
              <a:t>schedule_candidate</a:t>
            </a:r>
            <a:r>
              <a:rPr sz="900" b="0" i="0" dirty="0"/>
              <a:t>, </a:t>
            </a:r>
            <a:r>
              <a:rPr sz="900" b="0" i="0" dirty="0" err="1"/>
              <a:t>auto_assign</a:t>
            </a:r>
            <a:endParaRPr sz="900" b="0" i="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B386B9-19A3-5001-08E0-F945C3A35BE3}"/>
              </a:ext>
            </a:extLst>
          </p:cNvPr>
          <p:cNvSpPr/>
          <p:nvPr/>
        </p:nvSpPr>
        <p:spPr>
          <a:xfrm>
            <a:off x="5425440" y="3010590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70E84C-966D-6967-B897-A37F7AE4784B}"/>
              </a:ext>
            </a:extLst>
          </p:cNvPr>
          <p:cNvSpPr txBox="1"/>
          <p:nvPr/>
        </p:nvSpPr>
        <p:spPr>
          <a:xfrm>
            <a:off x="5489448" y="3056310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/services/mcp-resume-server.js  +  mcp-scheduling-server.js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809060A-844B-478A-D30A-12F37CE2BAC1}"/>
              </a:ext>
            </a:extLst>
          </p:cNvPr>
          <p:cNvSpPr/>
          <p:nvPr/>
        </p:nvSpPr>
        <p:spPr>
          <a:xfrm>
            <a:off x="10043160" y="3010590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BD3C73-40D4-1570-3770-C9B197D2870A}"/>
              </a:ext>
            </a:extLst>
          </p:cNvPr>
          <p:cNvSpPr txBox="1"/>
          <p:nvPr/>
        </p:nvSpPr>
        <p:spPr>
          <a:xfrm>
            <a:off x="10107168" y="3056310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BBE5701-A6D1-269A-B713-F2AE6B988074}"/>
              </a:ext>
            </a:extLst>
          </p:cNvPr>
          <p:cNvSpPr/>
          <p:nvPr/>
        </p:nvSpPr>
        <p:spPr>
          <a:xfrm>
            <a:off x="441960" y="3312342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5EF9D8-FA8F-2078-BE90-70C2441D71AD}"/>
              </a:ext>
            </a:extLst>
          </p:cNvPr>
          <p:cNvSpPr txBox="1"/>
          <p:nvPr/>
        </p:nvSpPr>
        <p:spPr>
          <a:xfrm>
            <a:off x="505968" y="3358062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MCP Server #2 Calendar — </a:t>
            </a:r>
            <a:r>
              <a:rPr sz="900" b="0" i="0" dirty="0" err="1"/>
              <a:t>StreamableHTTP</a:t>
            </a:r>
            <a:r>
              <a:rPr sz="900" b="0" i="0" dirty="0"/>
              <a:t> HTTPS, </a:t>
            </a:r>
            <a:r>
              <a:rPr sz="900" b="0" i="0" dirty="0" err="1"/>
              <a:t>create_event</a:t>
            </a:r>
            <a:endParaRPr sz="900" b="0" i="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B7374EA-4652-A195-725D-E62DC39D3681}"/>
              </a:ext>
            </a:extLst>
          </p:cNvPr>
          <p:cNvSpPr/>
          <p:nvPr/>
        </p:nvSpPr>
        <p:spPr>
          <a:xfrm>
            <a:off x="5425440" y="3312342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603A3C-7D53-75A0-8266-AD1F8551E156}"/>
              </a:ext>
            </a:extLst>
          </p:cNvPr>
          <p:cNvSpPr txBox="1"/>
          <p:nvPr/>
        </p:nvSpPr>
        <p:spPr>
          <a:xfrm>
            <a:off x="5489448" y="3358062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/services/calendar-mcp.js  +  mcp-scheduling-server.js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E9724EB-E5B5-EEBC-20CB-D900418CFEAB}"/>
              </a:ext>
            </a:extLst>
          </p:cNvPr>
          <p:cNvSpPr/>
          <p:nvPr/>
        </p:nvSpPr>
        <p:spPr>
          <a:xfrm>
            <a:off x="10043160" y="3312342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7AA6DC-B463-FB38-89DE-9B2F02E91123}"/>
              </a:ext>
            </a:extLst>
          </p:cNvPr>
          <p:cNvSpPr txBox="1"/>
          <p:nvPr/>
        </p:nvSpPr>
        <p:spPr>
          <a:xfrm>
            <a:off x="10107168" y="3358062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3498A10-096B-8E81-4895-D1A7915B9DE4}"/>
              </a:ext>
            </a:extLst>
          </p:cNvPr>
          <p:cNvSpPr/>
          <p:nvPr/>
        </p:nvSpPr>
        <p:spPr>
          <a:xfrm>
            <a:off x="441960" y="3614094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935643-2C19-9F1F-31D2-4E51C3158EAB}"/>
              </a:ext>
            </a:extLst>
          </p:cNvPr>
          <p:cNvSpPr txBox="1"/>
          <p:nvPr/>
        </p:nvSpPr>
        <p:spPr>
          <a:xfrm>
            <a:off x="505968" y="3659814"/>
            <a:ext cx="4828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Groq Whisper → transcript  +  Gemini 2.5 Flash → scores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961F9D-E10C-A8DA-8CAD-D254D3C6D4B2}"/>
              </a:ext>
            </a:extLst>
          </p:cNvPr>
          <p:cNvSpPr/>
          <p:nvPr/>
        </p:nvSpPr>
        <p:spPr>
          <a:xfrm>
            <a:off x="5425440" y="3614094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5E31DB-5BF5-9AF0-C64D-1D88A6F02903}"/>
              </a:ext>
            </a:extLst>
          </p:cNvPr>
          <p:cNvSpPr txBox="1"/>
          <p:nvPr/>
        </p:nvSpPr>
        <p:spPr>
          <a:xfrm>
            <a:off x="5489448" y="3659814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/services/video-analysis.js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C409C9C-A639-EBB7-EF5B-7EB3563E0F71}"/>
              </a:ext>
            </a:extLst>
          </p:cNvPr>
          <p:cNvSpPr/>
          <p:nvPr/>
        </p:nvSpPr>
        <p:spPr>
          <a:xfrm>
            <a:off x="10043160" y="3614094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BB5DCE-BD3C-8A78-85F9-45FFDC6DF53E}"/>
              </a:ext>
            </a:extLst>
          </p:cNvPr>
          <p:cNvSpPr txBox="1"/>
          <p:nvPr/>
        </p:nvSpPr>
        <p:spPr>
          <a:xfrm>
            <a:off x="10107168" y="3659814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BF74A7-F32D-5ACF-41E5-CC2379708346}"/>
              </a:ext>
            </a:extLst>
          </p:cNvPr>
          <p:cNvSpPr/>
          <p:nvPr/>
        </p:nvSpPr>
        <p:spPr>
          <a:xfrm>
            <a:off x="441960" y="3915846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320DC1-E474-7FE6-E6AC-76EDAC88708C}"/>
              </a:ext>
            </a:extLst>
          </p:cNvPr>
          <p:cNvSpPr txBox="1"/>
          <p:nvPr/>
        </p:nvSpPr>
        <p:spPr>
          <a:xfrm>
            <a:off x="505968" y="3961566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Ollama</a:t>
            </a:r>
            <a:r>
              <a:rPr sz="900" b="0" i="0" dirty="0"/>
              <a:t> nomic-embed-text 768-dim embeddings → </a:t>
            </a:r>
            <a:r>
              <a:rPr sz="900" b="0" i="0" dirty="0" err="1"/>
              <a:t>pgvector</a:t>
            </a:r>
            <a:r>
              <a:rPr sz="900" b="0" i="0" dirty="0"/>
              <a:t> cosine search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9FF4762-540D-2855-5D33-82E14599323E}"/>
              </a:ext>
            </a:extLst>
          </p:cNvPr>
          <p:cNvSpPr/>
          <p:nvPr/>
        </p:nvSpPr>
        <p:spPr>
          <a:xfrm>
            <a:off x="5425440" y="3915846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8236DC-706F-5228-C80E-EB53F153D2D4}"/>
              </a:ext>
            </a:extLst>
          </p:cNvPr>
          <p:cNvSpPr txBox="1"/>
          <p:nvPr/>
        </p:nvSpPr>
        <p:spPr>
          <a:xfrm>
            <a:off x="5489448" y="3961566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/services/embeddings.js  +  interview-matcher.js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4BE4410-71C5-43C1-6D73-8914B5DB136B}"/>
              </a:ext>
            </a:extLst>
          </p:cNvPr>
          <p:cNvSpPr/>
          <p:nvPr/>
        </p:nvSpPr>
        <p:spPr>
          <a:xfrm>
            <a:off x="10043160" y="3915846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77A62E-C03A-7D65-0F10-BC9710DFBFCB}"/>
              </a:ext>
            </a:extLst>
          </p:cNvPr>
          <p:cNvSpPr txBox="1"/>
          <p:nvPr/>
        </p:nvSpPr>
        <p:spPr>
          <a:xfrm>
            <a:off x="10107168" y="3961566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381F55B-7A4E-5EBD-7F7B-BA1F343CBDE2}"/>
              </a:ext>
            </a:extLst>
          </p:cNvPr>
          <p:cNvSpPr/>
          <p:nvPr/>
        </p:nvSpPr>
        <p:spPr>
          <a:xfrm>
            <a:off x="441960" y="4217598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61E334D-994E-B446-8B73-789C33C1AC9C}"/>
              </a:ext>
            </a:extLst>
          </p:cNvPr>
          <p:cNvSpPr txBox="1"/>
          <p:nvPr/>
        </p:nvSpPr>
        <p:spPr>
          <a:xfrm>
            <a:off x="505968" y="4263318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Background Workers: auto-schedule, no-show, bulk-email, video-reminder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D58B195-598F-87C3-4972-EFBBDB315064}"/>
              </a:ext>
            </a:extLst>
          </p:cNvPr>
          <p:cNvSpPr/>
          <p:nvPr/>
        </p:nvSpPr>
        <p:spPr>
          <a:xfrm>
            <a:off x="5425440" y="4217598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57E715-8825-B9FC-22AB-415BB8134BA9}"/>
              </a:ext>
            </a:extLst>
          </p:cNvPr>
          <p:cNvSpPr txBox="1"/>
          <p:nvPr/>
        </p:nvSpPr>
        <p:spPr>
          <a:xfrm>
            <a:off x="5489448" y="4263318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/services/scheduler.js  (4 exported worker functions)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93EE48F-A156-F7C1-D3B6-1D8497136824}"/>
              </a:ext>
            </a:extLst>
          </p:cNvPr>
          <p:cNvSpPr/>
          <p:nvPr/>
        </p:nvSpPr>
        <p:spPr>
          <a:xfrm>
            <a:off x="10043160" y="4217598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BDA8375-4420-60AE-CF75-ABF1EC304D36}"/>
              </a:ext>
            </a:extLst>
          </p:cNvPr>
          <p:cNvSpPr txBox="1"/>
          <p:nvPr/>
        </p:nvSpPr>
        <p:spPr>
          <a:xfrm>
            <a:off x="10107168" y="4263318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0B776C6-9EC6-34EC-4F84-4366EE8E5BD9}"/>
              </a:ext>
            </a:extLst>
          </p:cNvPr>
          <p:cNvSpPr/>
          <p:nvPr/>
        </p:nvSpPr>
        <p:spPr>
          <a:xfrm>
            <a:off x="441960" y="4519350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85BC1-CF37-152D-4BD0-1B783B9BDBF7}"/>
              </a:ext>
            </a:extLst>
          </p:cNvPr>
          <p:cNvSpPr txBox="1"/>
          <p:nvPr/>
        </p:nvSpPr>
        <p:spPr>
          <a:xfrm>
            <a:off x="505968" y="4565070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Graceful MCP fallback: if MCP fails, logic runs in-process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0A6464E-8EE5-7A77-41DB-88D8CE66FDFD}"/>
              </a:ext>
            </a:extLst>
          </p:cNvPr>
          <p:cNvSpPr/>
          <p:nvPr/>
        </p:nvSpPr>
        <p:spPr>
          <a:xfrm>
            <a:off x="5425440" y="4519350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CBB63A9-6A7F-6845-FA2F-CA7E7D33AF38}"/>
              </a:ext>
            </a:extLst>
          </p:cNvPr>
          <p:cNvSpPr txBox="1"/>
          <p:nvPr/>
        </p:nvSpPr>
        <p:spPr>
          <a:xfrm>
            <a:off x="5489448" y="4565070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/graph/nodes.js:50-64  +  scheduler.js:508-522  (try/catch + local call)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F40A360-9C5B-B904-9961-12AB27C28E1A}"/>
              </a:ext>
            </a:extLst>
          </p:cNvPr>
          <p:cNvSpPr/>
          <p:nvPr/>
        </p:nvSpPr>
        <p:spPr>
          <a:xfrm>
            <a:off x="10043160" y="4519350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925CF8-5801-BE67-E91C-4CA1CDD43011}"/>
              </a:ext>
            </a:extLst>
          </p:cNvPr>
          <p:cNvSpPr txBox="1"/>
          <p:nvPr/>
        </p:nvSpPr>
        <p:spPr>
          <a:xfrm>
            <a:off x="10107168" y="4565070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96511DF-E563-8851-2A30-5882444A3EC6}"/>
              </a:ext>
            </a:extLst>
          </p:cNvPr>
          <p:cNvSpPr/>
          <p:nvPr/>
        </p:nvSpPr>
        <p:spPr>
          <a:xfrm>
            <a:off x="441960" y="4821102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66D6DD-CE33-5699-73FF-1AB048AA8D08}"/>
              </a:ext>
            </a:extLst>
          </p:cNvPr>
          <p:cNvSpPr txBox="1"/>
          <p:nvPr/>
        </p:nvSpPr>
        <p:spPr>
          <a:xfrm>
            <a:off x="505968" y="4866822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PostgresSaver</a:t>
            </a:r>
            <a:r>
              <a:rPr sz="900" b="0" i="0" dirty="0"/>
              <a:t> checkpoint keyed by </a:t>
            </a:r>
            <a:r>
              <a:rPr sz="900" b="0" i="0" dirty="0" err="1"/>
              <a:t>thread_id</a:t>
            </a:r>
            <a:r>
              <a:rPr sz="900" b="0" i="0" dirty="0"/>
              <a:t>, fallback to </a:t>
            </a:r>
            <a:r>
              <a:rPr sz="900" b="0" i="0" dirty="0" err="1"/>
              <a:t>MemorySaver</a:t>
            </a:r>
            <a:endParaRPr sz="900" b="0" i="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DC21231-AC1E-5700-14A0-F37690C01F42}"/>
              </a:ext>
            </a:extLst>
          </p:cNvPr>
          <p:cNvSpPr/>
          <p:nvPr/>
        </p:nvSpPr>
        <p:spPr>
          <a:xfrm>
            <a:off x="5425440" y="4821102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860A8B6-B8CA-20E5-3EDB-8B5A5DDE1A02}"/>
              </a:ext>
            </a:extLst>
          </p:cNvPr>
          <p:cNvSpPr txBox="1"/>
          <p:nvPr/>
        </p:nvSpPr>
        <p:spPr>
          <a:xfrm>
            <a:off x="5489448" y="4866822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/graph/index.js:60-75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7B8C47B-C0CF-372A-B532-CC57B48C9498}"/>
              </a:ext>
            </a:extLst>
          </p:cNvPr>
          <p:cNvSpPr/>
          <p:nvPr/>
        </p:nvSpPr>
        <p:spPr>
          <a:xfrm>
            <a:off x="10043160" y="4821102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5E11E58-A164-1149-1A53-D744B68F07A7}"/>
              </a:ext>
            </a:extLst>
          </p:cNvPr>
          <p:cNvSpPr txBox="1"/>
          <p:nvPr/>
        </p:nvSpPr>
        <p:spPr>
          <a:xfrm>
            <a:off x="10107168" y="4866822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EF4D31C-E2D8-E7BF-E03F-438AFD140590}"/>
              </a:ext>
            </a:extLst>
          </p:cNvPr>
          <p:cNvSpPr/>
          <p:nvPr/>
        </p:nvSpPr>
        <p:spPr>
          <a:xfrm>
            <a:off x="441960" y="5122854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FF12607-77D5-85FC-BC21-C3D6799436DF}"/>
              </a:ext>
            </a:extLst>
          </p:cNvPr>
          <p:cNvSpPr txBox="1"/>
          <p:nvPr/>
        </p:nvSpPr>
        <p:spPr>
          <a:xfrm>
            <a:off x="505968" y="5168574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HR assignment request flow (&lt;40% AI score → HR review gate)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75511F3-2307-A21A-1B6D-013651CAA8F4}"/>
              </a:ext>
            </a:extLst>
          </p:cNvPr>
          <p:cNvSpPr/>
          <p:nvPr/>
        </p:nvSpPr>
        <p:spPr>
          <a:xfrm>
            <a:off x="5425440" y="5122854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657631D-FEF8-6287-C773-BDA1BFA01B66}"/>
              </a:ext>
            </a:extLst>
          </p:cNvPr>
          <p:cNvSpPr txBox="1"/>
          <p:nvPr/>
        </p:nvSpPr>
        <p:spPr>
          <a:xfrm>
            <a:off x="5489448" y="5168574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/>
              <a:t>src</a:t>
            </a:r>
            <a:r>
              <a:rPr sz="900" b="0" i="0" dirty="0"/>
              <a:t>/services/scheduler.js:654-688  (AI_HR_THRESHOLD = 40)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6233D8-096B-3F1B-D40B-3FFA90099CEC}"/>
              </a:ext>
            </a:extLst>
          </p:cNvPr>
          <p:cNvSpPr/>
          <p:nvPr/>
        </p:nvSpPr>
        <p:spPr>
          <a:xfrm>
            <a:off x="10043160" y="5122854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1EA0459-6979-822A-9369-A4970098CD99}"/>
              </a:ext>
            </a:extLst>
          </p:cNvPr>
          <p:cNvSpPr txBox="1"/>
          <p:nvPr/>
        </p:nvSpPr>
        <p:spPr>
          <a:xfrm>
            <a:off x="10107168" y="5168574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2F6F49A-1FAE-0DAE-55E2-9A5BF1C792AD}"/>
              </a:ext>
            </a:extLst>
          </p:cNvPr>
          <p:cNvSpPr/>
          <p:nvPr/>
        </p:nvSpPr>
        <p:spPr>
          <a:xfrm>
            <a:off x="441960" y="5424606"/>
            <a:ext cx="493776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98F6498-83E6-AB36-916C-3F9C4F9A0B91}"/>
              </a:ext>
            </a:extLst>
          </p:cNvPr>
          <p:cNvSpPr txBox="1"/>
          <p:nvPr/>
        </p:nvSpPr>
        <p:spPr>
          <a:xfrm>
            <a:off x="505968" y="5470326"/>
            <a:ext cx="4828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Numbered flow steps 1-15 in architecture match ingestion → graph → MCP → email → calendar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E96A4E0-B988-70DB-70F4-FA375756AEFC}"/>
              </a:ext>
            </a:extLst>
          </p:cNvPr>
          <p:cNvSpPr/>
          <p:nvPr/>
        </p:nvSpPr>
        <p:spPr>
          <a:xfrm>
            <a:off x="5425440" y="5424606"/>
            <a:ext cx="45720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59B9878-8FF0-74AA-08E1-6D9982071E58}"/>
              </a:ext>
            </a:extLst>
          </p:cNvPr>
          <p:cNvSpPr txBox="1"/>
          <p:nvPr/>
        </p:nvSpPr>
        <p:spPr>
          <a:xfrm>
            <a:off x="5489448" y="5470326"/>
            <a:ext cx="4462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/>
              <a:t>server.js (startup) → watcher.js (ingest) → nodes.js (graph) → scheduler.js (schedule)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19AA883-5D93-8807-9B66-F894F9318568}"/>
              </a:ext>
            </a:extLst>
          </p:cNvPr>
          <p:cNvSpPr/>
          <p:nvPr/>
        </p:nvSpPr>
        <p:spPr>
          <a:xfrm>
            <a:off x="10043160" y="5424606"/>
            <a:ext cx="914400" cy="3017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7F0A690-D617-FE7D-079D-B3CF62243858}"/>
              </a:ext>
            </a:extLst>
          </p:cNvPr>
          <p:cNvSpPr txBox="1"/>
          <p:nvPr/>
        </p:nvSpPr>
        <p:spPr>
          <a:xfrm>
            <a:off x="10107168" y="5470326"/>
            <a:ext cx="8046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b="1" dirty="0"/>
              <a:t>EXACT</a:t>
            </a:r>
            <a:endParaRPr sz="750" b="1" i="0" dirty="0">
              <a:solidFill>
                <a:srgbClr val="22C55E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3456C7E-AF91-2332-CCB8-A461AD1E2A6D}"/>
              </a:ext>
            </a:extLst>
          </p:cNvPr>
          <p:cNvSpPr/>
          <p:nvPr/>
        </p:nvSpPr>
        <p:spPr>
          <a:xfrm>
            <a:off x="441960" y="5931480"/>
            <a:ext cx="10529633" cy="256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018CD1B-FF46-1E15-4299-FF65085182F1}"/>
              </a:ext>
            </a:extLst>
          </p:cNvPr>
          <p:cNvSpPr txBox="1"/>
          <p:nvPr/>
        </p:nvSpPr>
        <p:spPr>
          <a:xfrm>
            <a:off x="624840" y="5931480"/>
            <a:ext cx="10192685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chemeClr val="bg1"/>
                </a:solidFill>
              </a:rPr>
              <a:t>VERDICT: The architecture diagram and the code flow are fully aligned. Every component, protocol, numbered step, and fallback path in the architecture PDF maps 1-to-1 with the actual source code.</a:t>
            </a:r>
          </a:p>
        </p:txBody>
      </p:sp>
    </p:spTree>
    <p:extLst>
      <p:ext uri="{BB962C8B-B14F-4D97-AF65-F5344CB8AC3E}">
        <p14:creationId xmlns:p14="http://schemas.microsoft.com/office/powerpoint/2010/main" val="246612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1962</TotalTime>
  <Words>2932</Words>
  <Application>Microsoft Office PowerPoint</Application>
  <PresentationFormat>Widescreen</PresentationFormat>
  <Paragraphs>329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Helvetica Neue</vt:lpstr>
      <vt:lpstr>Office Theme</vt:lpstr>
      <vt:lpstr>TrenzHire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TrenHire Interview Assistant – Technical Architecture</dc:title>
  <dc:subject>PptxGenJS Presentation</dc:subject>
  <dc:creator>PptxGenJS</dc:creator>
  <cp:lastModifiedBy>trenser 62</cp:lastModifiedBy>
  <cp:revision>22</cp:revision>
  <dcterms:created xsi:type="dcterms:W3CDTF">2026-05-07T05:27:40Z</dcterms:created>
  <dcterms:modified xsi:type="dcterms:W3CDTF">2026-05-11T11:17:19Z</dcterms:modified>
</cp:coreProperties>
</file>