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177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I'll walk you through InterviewAssist — an AI-powered hiring platform that automates the full recruitment pipeline, from resume intake all the way to scheduled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recruiting teams are drowning in manual work. Hundreds of resumes, unscored video calls, skill mismatches they never catch, and endless email chains to book a single interview slot. InterviewAssist eliminates all of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how it works. Every resume flows through a 5-stage AI pipeline. Each stage is an LLM autonomously calling a specialized MCP tool — no human in the loop until HR review is needed. The system also does semantic JD matching using vector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is built entirely on open standards. LangGraph manages the agent state machine. Groq gives us ultra-fast LLM inference. Gemini Vision handles video. pgvector enables semantic search. Everything runs on Node.js and can be containerized with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8 background agents running continuously. Each one is responsible for a specific stage. Critically, they don't just execute scripts — they're LLM agents making decisions: routing, scoring, matching, and escalating when confidence is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summarize: 100% automated screening, 9 MCP tools, zero manual scheduling, and infinitely scalable. InterviewAssist turns your hiring process into an autonomous pipeline — from resume drop to confirmed interview — so your team focuses on people, not paperwork.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F"/>
          </a:solidFill>
          <a:ln w="12700">
            <a:solidFill>
              <a:srgbClr val="0606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D4FF"/>
                </a:solidFill>
              </a:rPr>
              <a:t>AI-POWERED RECRUITMENT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200" b="1" dirty="0" err="1">
                <a:solidFill>
                  <a:srgbClr val="FFFFFF"/>
                </a:solidFill>
              </a:rPr>
              <a:t>Tren</a:t>
            </a:r>
            <a:r>
              <a:rPr lang="en-US" sz="7200" b="1" dirty="0" err="1">
                <a:solidFill>
                  <a:srgbClr val="00D4FF"/>
                </a:solidFill>
              </a:rPr>
              <a:t>Hire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A fully autonomous end-to-end hiring pipeline —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from resume drop to scheduled interview, powered by Agentic AI.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0916" y="3657600"/>
            <a:ext cx="1737360" cy="347472"/>
          </a:xfrm>
          <a:prstGeom prst="rect">
            <a:avLst/>
          </a:prstGeom>
          <a:solidFill>
            <a:srgbClr val="06060F"/>
          </a:solidFill>
          <a:ln w="12700">
            <a:solidFill>
              <a:srgbClr val="00D4FF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🤖 MCP Tool Calling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45436" y="3657600"/>
            <a:ext cx="1737360" cy="347472"/>
          </a:xfrm>
          <a:prstGeom prst="rect">
            <a:avLst/>
          </a:prstGeom>
          <a:solidFill>
            <a:srgbClr val="06060F"/>
          </a:solidFill>
          <a:ln w="12700">
            <a:solidFill>
              <a:srgbClr val="00FF88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</a:rPr>
              <a:t>🎥 Gemini Vision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19956" y="3657600"/>
            <a:ext cx="1737360" cy="347472"/>
          </a:xfrm>
          <a:prstGeom prst="rect">
            <a:avLst/>
          </a:prstGeom>
          <a:solidFill>
            <a:srgbClr val="06060F"/>
          </a:solidFill>
          <a:ln w="12700">
            <a:solidFill>
              <a:srgbClr val="A855F7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</a:rPr>
              <a:t>⚡ Groq LLM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4476" y="3657600"/>
            <a:ext cx="1737360" cy="347472"/>
          </a:xfrm>
          <a:prstGeom prst="rect">
            <a:avLst/>
          </a:prstGeom>
          <a:solidFill>
            <a:srgbClr val="06060F"/>
          </a:solidFill>
          <a:ln w="12700">
            <a:solidFill>
              <a:srgbClr val="FFA500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A500"/>
                </a:solidFill>
              </a:rPr>
              <a:t>🗄️ pgvector RAG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68996" y="3657600"/>
            <a:ext cx="1737360" cy="347472"/>
          </a:xfrm>
          <a:prstGeom prst="rect">
            <a:avLst/>
          </a:prstGeom>
          <a:solidFill>
            <a:srgbClr val="06060F"/>
          </a:solidFill>
          <a:ln w="12700">
            <a:solidFill>
              <a:srgbClr val="00D4FF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📧 IMAP Ingest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43516" y="3657600"/>
            <a:ext cx="1737360" cy="347472"/>
          </a:xfrm>
          <a:prstGeom prst="rect">
            <a:avLst/>
          </a:prstGeom>
          <a:solidFill>
            <a:srgbClr val="06060F"/>
          </a:solidFill>
          <a:ln w="12700">
            <a:solidFill>
              <a:srgbClr val="00FF88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</a:rPr>
              <a:t>📅 Auto Scheduler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F"/>
          </a:solidFill>
          <a:ln w="12700">
            <a:solidFill>
              <a:srgbClr val="0606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D4FF"/>
                </a:solidFill>
              </a:rPr>
              <a:t>WHY INTERVIEWASSIST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Traditional Hiring is </a:t>
            </a:r>
            <a:r>
              <a:rPr lang="en-US" sz="3600" b="1" dirty="0">
                <a:solidFill>
                  <a:srgbClr val="00D4FF"/>
                </a:solidFill>
              </a:rPr>
              <a:t>Broken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303520" cy="365760"/>
          </a:xfrm>
          <a:prstGeom prst="rect">
            <a:avLst/>
          </a:prstGeom>
          <a:solidFill>
            <a:srgbClr val="1A0608"/>
          </a:solidFill>
          <a:ln w="12700">
            <a:solidFill>
              <a:srgbClr val="FF4757"/>
            </a:solidFill>
          </a:ln>
        </p:spPr>
        <p:txBody>
          <a:bodyPr wrap="square" lIns="50800" tIns="127000" rIns="1270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</a:rPr>
              <a:t>✗  The Old Way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303520" cy="475488"/>
          </a:xfrm>
          <a:prstGeom prst="rect">
            <a:avLst/>
          </a:prstGeom>
          <a:solidFill>
            <a:srgbClr val="110608"/>
          </a:solidFill>
          <a:ln w="12700">
            <a:solidFill>
              <a:srgbClr val="331015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✗  Hundreds of resumes screened manually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5303520" cy="475488"/>
          </a:xfrm>
          <a:prstGeom prst="rect">
            <a:avLst/>
          </a:prstGeom>
          <a:solidFill>
            <a:srgbClr val="110608"/>
          </a:solidFill>
          <a:ln w="12700">
            <a:solidFill>
              <a:srgbClr val="331015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✗  No structured scoring for video interviews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54096"/>
            <a:ext cx="5303520" cy="475488"/>
          </a:xfrm>
          <a:prstGeom prst="rect">
            <a:avLst/>
          </a:prstGeom>
          <a:solidFill>
            <a:srgbClr val="110608"/>
          </a:solidFill>
          <a:ln w="12700">
            <a:solidFill>
              <a:srgbClr val="331015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✗  Interviewer-candidate skill mismatch undetected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21024"/>
            <a:ext cx="5303520" cy="475488"/>
          </a:xfrm>
          <a:prstGeom prst="rect">
            <a:avLst/>
          </a:prstGeom>
          <a:solidFill>
            <a:srgbClr val="110608"/>
          </a:solidFill>
          <a:ln w="12700">
            <a:solidFill>
              <a:srgbClr val="331015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✗  Scheduling back-and-forth over emails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87952"/>
            <a:ext cx="5303520" cy="475488"/>
          </a:xfrm>
          <a:prstGeom prst="rect">
            <a:avLst/>
          </a:prstGeom>
          <a:solidFill>
            <a:srgbClr val="110608"/>
          </a:solidFill>
          <a:ln w="12700">
            <a:solidFill>
              <a:srgbClr val="331015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✗  No audit trail or data-driven decisions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solidFill>
            <a:srgbClr val="06120A"/>
          </a:solidFill>
          <a:ln w="12700">
            <a:solidFill>
              <a:srgbClr val="00FF88"/>
            </a:solidFill>
          </a:ln>
        </p:spPr>
        <p:txBody>
          <a:bodyPr wrap="square" lIns="50800" tIns="127000" rIns="1270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</a:rPr>
              <a:t>✓  With InterviewAssist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5486400" cy="475488"/>
          </a:xfrm>
          <a:prstGeom prst="rect">
            <a:avLst/>
          </a:prstGeom>
          <a:solidFill>
            <a:srgbClr val="06100A"/>
          </a:solidFill>
          <a:ln w="12700">
            <a:solidFill>
              <a:srgbClr val="0A3318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✓  AI pipeline screens &amp; scores resumes automatically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487168"/>
            <a:ext cx="5486400" cy="475488"/>
          </a:xfrm>
          <a:prstGeom prst="rect">
            <a:avLst/>
          </a:prstGeom>
          <a:solidFill>
            <a:srgbClr val="06100A"/>
          </a:solidFill>
          <a:ln w="12700">
            <a:solidFill>
              <a:srgbClr val="0A3318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✓  Gemini Vision analyzes fluency, skills &amp; confidence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3054096"/>
            <a:ext cx="5486400" cy="475488"/>
          </a:xfrm>
          <a:prstGeom prst="rect">
            <a:avLst/>
          </a:prstGeom>
          <a:solidFill>
            <a:srgbClr val="06100A"/>
          </a:solidFill>
          <a:ln w="12700">
            <a:solidFill>
              <a:srgbClr val="0A3318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✓  Skill-aware matching with HR approval workflow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3621024"/>
            <a:ext cx="5486400" cy="475488"/>
          </a:xfrm>
          <a:prstGeom prst="rect">
            <a:avLst/>
          </a:prstGeom>
          <a:solidFill>
            <a:srgbClr val="06100A"/>
          </a:solidFill>
          <a:ln w="12700">
            <a:solidFill>
              <a:srgbClr val="0A3318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✓  Automated slot booking, tokens &amp; confirmation emails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4187952"/>
            <a:ext cx="5486400" cy="475488"/>
          </a:xfrm>
          <a:prstGeom prst="rect">
            <a:avLst/>
          </a:prstGeom>
          <a:solidFill>
            <a:srgbClr val="06100A"/>
          </a:solidFill>
          <a:ln w="12700">
            <a:solidFill>
              <a:srgbClr val="0A3318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✓  Full candidate lifecycle tracked in one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F"/>
          </a:solidFill>
          <a:ln w="12700">
            <a:solidFill>
              <a:srgbClr val="0606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D4FF"/>
                </a:solidFill>
              </a:rPr>
              <a:t>AGENTIC AI PIPELINE WITH MCP TOOL CALLING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</a:rPr>
              <a:t>LLMs autonomously </a:t>
            </a:r>
            <a:r>
              <a:rPr lang="en-US" sz="3200" b="1" dirty="0">
                <a:solidFill>
                  <a:srgbClr val="00FF88"/>
                </a:solidFill>
              </a:rPr>
              <a:t>call tools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34340" y="1371600"/>
            <a:ext cx="2103120" cy="141732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4340" y="144475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4340" y="1874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Resume Intake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4340" y="22219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Drop folder, careers portal, IMAP email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37460" y="19202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29484" y="1394460"/>
            <a:ext cx="2103120" cy="141732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38628" y="144475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38628" y="1874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Screening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38628" y="22219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LLM calls analyze_resume via MCP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1748" y="19202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42916" y="1371600"/>
            <a:ext cx="2103120" cy="141732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42916" y="144475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42916" y="1874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Video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2916" y="22219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Gemini Vision: fluency, skills, confidence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46036" y="19202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47204" y="1371600"/>
            <a:ext cx="2103120" cy="141732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47204" y="144475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47204" y="1874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Scheduling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47204" y="22219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LLM calls schedule_candidate autonomously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450324" y="19202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51492" y="1371600"/>
            <a:ext cx="2103120" cy="141732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651492" y="144475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1492" y="1874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Outcome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51492" y="22219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LLM calls send_invite with audit trail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2971800"/>
            <a:ext cx="2651760" cy="132588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3044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RAG-based JD Matching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4015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Embeddings (Ollama/OpenAI) chunk JDs into pgvector for semantic resume-to-role matching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64992" y="2971800"/>
            <a:ext cx="2651760" cy="132588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456432" y="3044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👥  HR Approval Panel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56432" y="34015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When no high-skill interviewer is available, admin reviews AI suggestions &amp; approves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72784" y="2971800"/>
            <a:ext cx="2651760" cy="132588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64224" y="3044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 OTP Interviewer Login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64224" y="34015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Interviewers authenticate via one-time email OTP with calendar &amp; slot management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180576" y="2971800"/>
            <a:ext cx="2651760" cy="132588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272016" y="3044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MCP Tool Protocol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72016" y="34015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LLMs autonomously call 9 specialized tools: analyze_resume, send_invite, schedule_candidate…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F"/>
          </a:solidFill>
          <a:ln w="12700">
            <a:solidFill>
              <a:srgbClr val="0606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D4FF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Built on </a:t>
            </a:r>
            <a:r>
              <a:rPr lang="en-US" sz="3200" b="1" dirty="0">
                <a:solidFill>
                  <a:srgbClr val="A855F7"/>
                </a:solidFill>
              </a:rPr>
              <a:t>Modern AI Infrastructure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🤖  AI &amp;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" y="19293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LangGraph.js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167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Stateful agent pipeline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6928" y="25877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Groq LLM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8254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Resume scoring &amp; scheduling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191256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28" y="32461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Gemini Vision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34838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Video analysis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39044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Ollama / OpenAI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41422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Text embeddings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507992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" y="45628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MCP SDK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800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Tool-use protocol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🗄️  Data &amp; 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1874520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90288" y="19293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PostgreSQL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90288" y="2167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Primary datastore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2532888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90288" y="25877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pgvector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90288" y="28254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Vector similarity search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3191256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90288" y="32461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LangGraph Checkpoint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90288" y="34838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Agent state persistence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3849624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90288" y="39044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File Watcher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90288" y="41422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CV drop folder (chokidar)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🌐  Backend &amp; Infra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03920" y="1874520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613648" y="19293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Node.js + Express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13648" y="2167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REST API server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503920" y="2532888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613648" y="25877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Pug Templates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613648" y="28254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Server-side UI rendering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503920" y="3191256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613648" y="32461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Nodemailer + IMAP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613648" y="34838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Email send &amp; ingest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503920" y="3849624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613648" y="39044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Docker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613648" y="41422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Containerized deployment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503920" y="4507992"/>
            <a:ext cx="3657600" cy="566928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613648" y="45628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Session Auth + bcrypt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613648" y="4800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Secure admin access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F"/>
          </a:solidFill>
          <a:ln w="12700">
            <a:solidFill>
              <a:srgbClr val="0606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D4FF"/>
                </a:solidFill>
              </a:rPr>
              <a:t>AUTONOMOUS AI 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</a:rPr>
              <a:t>8 agents, </a:t>
            </a:r>
            <a:r>
              <a:rPr lang="en-US" sz="3200" b="1" dirty="0">
                <a:solidFill>
                  <a:srgbClr val="00FF88"/>
                </a:solidFill>
              </a:rPr>
              <a:t>zero manual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88036" y="1417320"/>
            <a:ext cx="269748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97764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📁  CV Watcher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7764" y="183794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Monitors drop folder, triggers LangGraph pipeline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9836" y="1417320"/>
            <a:ext cx="269748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69564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📧  Email Ingest Agent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69564" y="183794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Polls IMAP inbox, extracts &amp; routes resumes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1636" y="1417320"/>
            <a:ext cx="269748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41364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🎥  Video Analysis Agent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41364" y="183794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Whisper transcription + Gemini Vision scoring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203436" y="1417320"/>
            <a:ext cx="269748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313164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🧠  Resume Scoring Agent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13164" y="183794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RAG + pgvector + Groq LLM analysis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8036" y="2551176"/>
            <a:ext cx="269748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97764" y="26426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🎯  Interview Matcher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7764" y="29718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AI skill-match pairing via MCP tool call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59836" y="2551176"/>
            <a:ext cx="269748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69564" y="26426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📅  Auto-Scheduler Agent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69564" y="29718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Books slots, routes low-matches to HR approval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31636" y="2551176"/>
            <a:ext cx="269748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41364" y="26426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💌  Email Sending Agent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41364" y="29718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Invitations, rejections &amp; confirmations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203436" y="2551176"/>
            <a:ext cx="269748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313164" y="26426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📬  Bulk Outcome Worker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13164" y="29718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Daily bulk email at configured time with buffer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10312"/>
            <a:ext cx="12192000" cy="6858000"/>
          </a:xfrm>
          <a:prstGeom prst="rect">
            <a:avLst/>
          </a:prstGeom>
          <a:solidFill>
            <a:srgbClr val="06060F"/>
          </a:solidFill>
          <a:ln w="12700">
            <a:solidFill>
              <a:srgbClr val="0606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D4FF"/>
                </a:solidFill>
              </a:rPr>
              <a:t>AGENTIC AI IMPACT &amp;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One platform.
</a:t>
            </a:r>
            <a:r>
              <a:rPr lang="en-US" sz="3400" b="1" dirty="0">
                <a:solidFill>
                  <a:srgbClr val="00D4FF"/>
                </a:solidFill>
              </a:rPr>
              <a:t>LLMs autonomously call tools.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5236" y="1874520"/>
            <a:ext cx="2468880" cy="11430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5236" y="19385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D4FF"/>
                </a:solidFill>
              </a:rPr>
              <a:t>100%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5236" y="25420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Automated Resume Screening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88436" y="1874520"/>
            <a:ext cx="2468880" cy="11430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88436" y="19385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D4FF"/>
                </a:solidFill>
              </a:rPr>
              <a:t>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88436" y="25420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MCP Tools Available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1636" y="1874520"/>
            <a:ext cx="2468880" cy="11430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31636" y="19385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D4FF"/>
                </a:solidFill>
              </a:rPr>
              <a:t>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31636" y="25420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Manual Scheduling Steps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74836" y="1874520"/>
            <a:ext cx="2468880" cy="1143000"/>
          </a:xfrm>
          <a:prstGeom prst="rect">
            <a:avLst/>
          </a:prstGeom>
          <a:solidFill>
            <a:srgbClr val="0D0D1A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74836" y="19385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D4FF"/>
                </a:solidFill>
              </a:rPr>
              <a:t>∞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974836" y="25420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Interviews Scalable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40380" y="3218688"/>
            <a:ext cx="1389888" cy="329184"/>
          </a:xfrm>
          <a:prstGeom prst="rect">
            <a:avLst/>
          </a:prstGeom>
          <a:solidFill>
            <a:srgbClr val="06060F"/>
          </a:solidFill>
          <a:ln w="1270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</a:rPr>
              <a:t>MCP Tool Calling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3148" y="3218688"/>
            <a:ext cx="1389888" cy="329184"/>
          </a:xfrm>
          <a:prstGeom prst="rect">
            <a:avLst/>
          </a:prstGeom>
          <a:solidFill>
            <a:srgbClr val="06060F"/>
          </a:solidFill>
          <a:ln w="12700">
            <a:solidFill>
              <a:srgbClr val="00FF8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</a:rPr>
              <a:t>Gemini Vision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5916" y="3218688"/>
            <a:ext cx="1389888" cy="329184"/>
          </a:xfrm>
          <a:prstGeom prst="rect">
            <a:avLst/>
          </a:prstGeom>
          <a:solidFill>
            <a:srgbClr val="06060F"/>
          </a:solidFill>
          <a:ln w="12700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</a:rPr>
              <a:t>Groq LLM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58684" y="3218688"/>
            <a:ext cx="1389888" cy="329184"/>
          </a:xfrm>
          <a:prstGeom prst="rect">
            <a:avLst/>
          </a:prstGeom>
          <a:solidFill>
            <a:srgbClr val="06060F"/>
          </a:solidFill>
          <a:ln w="12700">
            <a:solidFill>
              <a:srgbClr val="FFA5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500"/>
                </a:solidFill>
              </a:rPr>
              <a:t>pgvector RAG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4297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 err="1">
                <a:solidFill>
                  <a:srgbClr val="64748B"/>
                </a:solidFill>
              </a:rPr>
              <a:t>TrenHire</a:t>
            </a:r>
            <a:r>
              <a:rPr lang="en-US" sz="1300" dirty="0">
                <a:solidFill>
                  <a:srgbClr val="64748B"/>
                </a:solidFill>
              </a:rPr>
              <a:t> brings together the best of modern AI to eliminate hiring inefficiencies — so teams can focus on what matters: finding the right people.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785</Words>
  <Application>Microsoft Office PowerPoint</Application>
  <PresentationFormat>Widescreen</PresentationFormat>
  <Paragraphs>131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Trenser 126</cp:lastModifiedBy>
  <cp:revision>3</cp:revision>
  <dcterms:created xsi:type="dcterms:W3CDTF">2026-04-23T06:49:55Z</dcterms:created>
  <dcterms:modified xsi:type="dcterms:W3CDTF">2026-04-23T11:59:10Z</dcterms:modified>
</cp:coreProperties>
</file>